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project name and the one line that distinguishes it: PawHome does not stop at adoption, it also boards pets after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states their name, roll number and the feature area they own. Every member must speak — individual marks are awarded for participation.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most time on problem 4 — boarding is the differentiator and the examiner will remember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one per module. Objective 6 is the boarding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Guests convert to adopters: any action beyond browsing prompts registration.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 in the deck. Land step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explainability. An examiner will ask why a pet scored what it scored.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for the question about PHP. The answer is: approval obtained under 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schema came from the design, not the other way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examiner will ask why the schema is not fully 3NF. This slide is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answers the course's SQL coverage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methodology directly to the Week 9/10/11 marking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exclusions is a strength, not a weakness.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owns tables nobody else writes to — that is how individual contribution is evidenced at Weeks 9, 10 and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MySQL 8.4 dependency — it is a real integrity risk, not boilerplate.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differentiator: the pet's record continues after adoption, which is what makes boarding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1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4A166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4A16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658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INTERNATIONAL UNIVERSITY  ·  DEPARTMENT OF CSE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692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8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3522 — Database Management Systems Laboratory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8308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PawHome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Pet Adoption and Boarding Management System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788920" cy="475488"/>
          </a:xfrm>
          <a:prstGeom prst="roundRect">
            <a:avLst>
              <a:gd name="adj" fmla="val 50000"/>
            </a:avLst>
          </a:prstGeom>
          <a:solidFill>
            <a:srgbClr val="C527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916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Group of five  ·  Presented by all members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one complete feature area, including its database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2066544"/>
            <a:ext cx="512064" cy="512064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53312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743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2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93008"/>
            <a:ext cx="17922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shelters and audit trail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25496" y="18288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066544"/>
            <a:ext cx="512064" cy="512064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1880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53512" y="2743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Two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53512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2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]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493008"/>
            <a:ext cx="17922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catalogue, search and favourites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84064" y="18288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0448" y="2066544"/>
            <a:ext cx="512064" cy="512064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0448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743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Three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2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]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3493008"/>
            <a:ext cx="17922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Quizzes, scoring and recommendations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42632" y="18288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9016" y="2066544"/>
            <a:ext cx="512064" cy="512064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29016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70648" y="2743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Four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70648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2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]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88936" y="3493008"/>
            <a:ext cx="17922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approval and reporting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01200" y="182880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87584" y="2066544"/>
            <a:ext cx="512064" cy="512064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87584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2743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Five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29216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2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]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747504" y="3493008"/>
            <a:ext cx="17922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Boarding, daily care and vaccinations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490118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placeholder names and roll numbers before presenting.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 and adopters are served by tools that stop at the moment of adoption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431536" cy="1572768"/>
          </a:xfrm>
          <a:prstGeom prst="roundRect">
            <a:avLst>
              <a:gd name="adj" fmla="val 5233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029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048256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fragmented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450592"/>
            <a:ext cx="4242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shelters track pets, vaccinations and daily care on paper. Nobody can answer “which pets are overdue a vaccination?”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431536" cy="1572768"/>
          </a:xfrm>
          <a:prstGeom prst="roundRect">
            <a:avLst>
              <a:gd name="adj" fmla="val 5233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7376" y="2029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048256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Adopters cannot judge fit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450592"/>
            <a:ext cx="4242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 and a breed name say nothing about whether an energetic dog suits a small apartment. Mismatches end in returns.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621024"/>
            <a:ext cx="5431536" cy="1572768"/>
          </a:xfrm>
          <a:prstGeom prst="roundRect">
            <a:avLst>
              <a:gd name="adj" fmla="val 5233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822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3840480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does not follow the pet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99616" y="4242816"/>
            <a:ext cx="4242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Certificates, medical notes and feeding records stay with whichever shelter held the animal. Adoption breaks the chain.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3621024"/>
            <a:ext cx="5431536" cy="1572768"/>
          </a:xfrm>
          <a:prstGeom prst="roundRect">
            <a:avLst>
              <a:gd name="adj" fmla="val 5233"/>
            </a:avLst>
          </a:prstGeom>
          <a:solidFill>
            <a:srgbClr val="F7E9FD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7376" y="3822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27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840480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 to leave a pet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242816"/>
            <a:ext cx="4242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 travelling must choose a kennel that knows nothing about their animal — while the shelter that raised it sits unused.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5321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problem is the one PawHome answers that an ordinary adoption site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420624" cy="420624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75564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authoritative record per animal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19088" y="175564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photographs, vaccination history and daily care in one place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8024"/>
            <a:ext cx="420624" cy="420624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47802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and filtering for everyone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247802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Species, breed, age, size, gender and temperament — open to guests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200400"/>
            <a:ext cx="420624" cy="420624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20040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assessed before application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32004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admin-authored quiz scores each applicant automatically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922776"/>
            <a:ext cx="420624" cy="420624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92277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pet recommendations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392277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matching that says why a pet scored 92%, not just that it did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645152"/>
            <a:ext cx="420624" cy="420624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464515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adoption lifecycle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464515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staff review, decision with a reason, permanent record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367528"/>
            <a:ext cx="420624" cy="420624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5367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70432" y="536752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boarding service for adopted pets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53675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care instructions and photographic updates while owners travel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Stakeholders, Four Portals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has its own navigation, permissions and screens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724912" cy="3063240"/>
          </a:xfrm>
          <a:prstGeom prst="roundRect">
            <a:avLst>
              <a:gd name="adj" fmla="val 3020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2724912" cy="713232"/>
          </a:xfrm>
          <a:prstGeom prst="roundRect">
            <a:avLst>
              <a:gd name="adj" fmla="val 11538"/>
            </a:avLst>
          </a:prstGeom>
          <a:solidFill>
            <a:srgbClr val="7B6D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8745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17627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B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registered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670048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available pets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search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pet profiles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65576" y="1783080"/>
            <a:ext cx="2724912" cy="3063240"/>
          </a:xfrm>
          <a:prstGeom prst="roundRect">
            <a:avLst>
              <a:gd name="adj" fmla="val 3020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1783080"/>
            <a:ext cx="2724912" cy="713232"/>
          </a:xfrm>
          <a:prstGeom prst="roundRect">
            <a:avLst>
              <a:gd name="adj" fmla="val 11538"/>
            </a:avLst>
          </a:prstGeom>
          <a:solidFill>
            <a:srgbClr val="9A1DC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48456" y="18745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217627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B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public user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2670048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Favourites and recommendations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and personality quizzes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adopt · track status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boarding for own pets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64224" y="1783080"/>
            <a:ext cx="2724912" cy="3063240"/>
          </a:xfrm>
          <a:prstGeom prst="roundRect">
            <a:avLst>
              <a:gd name="adj" fmla="val 3020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1783080"/>
            <a:ext cx="2724912" cy="713232"/>
          </a:xfrm>
          <a:prstGeom prst="roundRect">
            <a:avLst>
              <a:gd name="adj" fmla="val 11538"/>
            </a:avLst>
          </a:prstGeom>
          <a:solidFill>
            <a:srgbClr val="C527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47104" y="18745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Staff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217627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B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one shelter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670048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pets and photo galleries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decide applications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Vaccinations and daily care logs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boarding · post updates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62872" y="1783080"/>
            <a:ext cx="2724912" cy="3063240"/>
          </a:xfrm>
          <a:prstGeom prst="roundRect">
            <a:avLst>
              <a:gd name="adj" fmla="val 3020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62872" y="1783080"/>
            <a:ext cx="2724912" cy="713232"/>
          </a:xfrm>
          <a:prstGeom prst="roundRect">
            <a:avLst>
              <a:gd name="adj" fmla="val 11538"/>
            </a:avLst>
          </a:prstGeom>
          <a:solidFill>
            <a:srgbClr val="4A16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45752" y="18745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445752" y="217627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B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482328" y="2670048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shelters and capacity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staff accounts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all quiz question banks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PDF reports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0840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guest becomes an adopter the moment they try to do anything beyond browsing — favouriting, taking the quiz or applying all prompt registration.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Adopter Journey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pet stays in the system after adoption — that is the whole point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709928" cy="1783080"/>
          </a:xfrm>
          <a:prstGeom prst="roundRect">
            <a:avLst>
              <a:gd name="adj" fmla="val 4813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395728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779776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catalogue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3035808"/>
            <a:ext cx="118872" cy="0"/>
          </a:xfrm>
          <a:prstGeom prst="line">
            <a:avLst/>
          </a:prstGeom>
          <a:noFill/>
          <a:ln w="22225">
            <a:solidFill>
              <a:srgbClr val="9A1DC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50592" y="2148840"/>
            <a:ext cx="1709928" cy="1783080"/>
          </a:xfrm>
          <a:prstGeom prst="roundRect">
            <a:avLst>
              <a:gd name="adj" fmla="val 4813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395728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78608" y="2779776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+ personality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87952" y="3035808"/>
            <a:ext cx="118872" cy="0"/>
          </a:xfrm>
          <a:prstGeom prst="line">
            <a:avLst/>
          </a:prstGeom>
          <a:noFill/>
          <a:ln w="22225">
            <a:solidFill>
              <a:srgbClr val="9A1DC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34256" y="2148840"/>
            <a:ext cx="1709928" cy="1783080"/>
          </a:xfrm>
          <a:prstGeom prst="roundRect">
            <a:avLst>
              <a:gd name="adj" fmla="val 4813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43984" y="2395728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2779776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pets with reasons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3035808"/>
            <a:ext cx="118872" cy="0"/>
          </a:xfrm>
          <a:prstGeom prst="line">
            <a:avLst/>
          </a:prstGeom>
          <a:noFill/>
          <a:ln w="22225">
            <a:solidFill>
              <a:srgbClr val="9A1DC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2148840"/>
            <a:ext cx="1709928" cy="1783080"/>
          </a:xfrm>
          <a:prstGeom prst="roundRect">
            <a:avLst>
              <a:gd name="adj" fmla="val 4813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7648" y="2395728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2779776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application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3035808"/>
            <a:ext cx="118872" cy="0"/>
          </a:xfrm>
          <a:prstGeom prst="line">
            <a:avLst/>
          </a:prstGeom>
          <a:noFill/>
          <a:ln w="22225">
            <a:solidFill>
              <a:srgbClr val="9A1D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01584" y="2148840"/>
            <a:ext cx="1709928" cy="1783080"/>
          </a:xfrm>
          <a:prstGeom prst="roundRect">
            <a:avLst>
              <a:gd name="adj" fmla="val 4813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11312" y="2395728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2779776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approve; ownership moves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38944" y="3035808"/>
            <a:ext cx="118872" cy="0"/>
          </a:xfrm>
          <a:prstGeom prst="line">
            <a:avLst/>
          </a:prstGeom>
          <a:noFill/>
          <a:ln w="22225">
            <a:solidFill>
              <a:srgbClr val="9A1DC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85248" y="2148840"/>
            <a:ext cx="1709928" cy="1783080"/>
          </a:xfrm>
          <a:prstGeom prst="roundRect">
            <a:avLst>
              <a:gd name="adj" fmla="val 4813"/>
            </a:avLst>
          </a:prstGeom>
          <a:solidFill>
            <a:srgbClr val="C527EA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94976" y="2395728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113264" y="2779776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pet while travelling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315968"/>
            <a:ext cx="11027664" cy="1170432"/>
          </a:xfrm>
          <a:prstGeom prst="roundRect">
            <a:avLst>
              <a:gd name="adj" fmla="val 7031"/>
            </a:avLst>
          </a:prstGeom>
          <a:solidFill>
            <a:srgbClr val="F7E9FD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" y="4517136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adoption platform ends at step 5.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" y="4846320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PawHome keeps the pet, its shelter and its medical history linked after adoption, the shelter that raised the animal is the natural place to board it — and it already holds the vaccination records that boarding requires.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Personality Matching Works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explainable — not a black box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04825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traits, both sides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43230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tag each pet from a fixed vocabulary of seven temperament traits. The adopter's personality quiz maps each answer onto the same seven. Both sides speak one language, so the comparison is a set overlap.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9536" y="3584448"/>
            <a:ext cx="86319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3584448"/>
            <a:ext cx="8631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32458" y="3584448"/>
            <a:ext cx="78729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32458" y="3584448"/>
            <a:ext cx="7872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29484" y="3584448"/>
            <a:ext cx="55961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29484" y="3584448"/>
            <a:ext cx="5596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98825" y="3584448"/>
            <a:ext cx="48371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98825" y="3584448"/>
            <a:ext cx="483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92270" y="3584448"/>
            <a:ext cx="93908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92270" y="3584448"/>
            <a:ext cx="9390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9536" y="4005072"/>
            <a:ext cx="116677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4005072"/>
            <a:ext cx="11667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Affectionate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36038" y="4005072"/>
            <a:ext cx="109087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36038" y="4005072"/>
            <a:ext cx="1090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182880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3510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2048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adopter sees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527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56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419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with Cooper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87705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D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on Energetic, Affectionate and Playful.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D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only on Independent.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517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function of two sets — so it unit-tests cleanly and can be defended in a viva.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11027664" cy="566928"/>
          </a:xfrm>
          <a:prstGeom prst="roundRect">
            <a:avLst>
              <a:gd name="adj" fmla="val 14516"/>
            </a:avLst>
          </a:prstGeom>
          <a:solidFill>
            <a:srgbClr val="FBF4FE"/>
          </a:solidFill>
          <a:ln w="12700">
            <a:solidFill>
              <a:srgbClr val="EBDC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1801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Tailwind CSS 3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67728" y="1801368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layout per user role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14016"/>
            <a:ext cx="11027664" cy="566928"/>
          </a:xfrm>
          <a:prstGeom prst="roundRect">
            <a:avLst>
              <a:gd name="adj" fmla="val 14516"/>
            </a:avLst>
          </a:prstGeom>
          <a:solidFill>
            <a:srgbClr val="FBF4FE"/>
          </a:solidFill>
          <a:ln w="12700">
            <a:solidFill>
              <a:srgbClr val="EBDC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59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24597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3.4.1 · Java 17 · Maven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967728" y="2459736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rules, transaction boundaries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072384"/>
            <a:ext cx="11027664" cy="566928"/>
          </a:xfrm>
          <a:prstGeom prst="roundRect">
            <a:avLst>
              <a:gd name="adj" fmla="val 14516"/>
            </a:avLst>
          </a:prstGeom>
          <a:solidFill>
            <a:srgbClr val="F7E9FD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1181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24912" y="31181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 · InnoDB · utf8mb4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967728" y="3118104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every integrity constraint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30752"/>
            <a:ext cx="11027664" cy="566928"/>
          </a:xfrm>
          <a:prstGeom prst="roundRect">
            <a:avLst>
              <a:gd name="adj" fmla="val 14516"/>
            </a:avLst>
          </a:prstGeom>
          <a:solidFill>
            <a:srgbClr val="FBF4FE"/>
          </a:solidFill>
          <a:ln w="12700">
            <a:solidFill>
              <a:srgbClr val="EBDC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776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24912" y="3776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3776472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schema history for five developers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389120"/>
            <a:ext cx="11027664" cy="566928"/>
          </a:xfrm>
          <a:prstGeom prst="roundRect">
            <a:avLst>
              <a:gd name="adj" fmla="val 14516"/>
            </a:avLst>
          </a:prstGeom>
          <a:solidFill>
            <a:srgbClr val="FBF4FE"/>
          </a:solidFill>
          <a:ln w="12700">
            <a:solidFill>
              <a:srgbClr val="EBDC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724912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· JWT HS384 · BCrypt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4434840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four stakeholder types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27664" cy="566928"/>
          </a:xfrm>
          <a:prstGeom prst="roundRect">
            <a:avLst>
              <a:gd name="adj" fmla="val 14516"/>
            </a:avLst>
          </a:prstGeom>
          <a:solidFill>
            <a:srgbClr val="FBF4FE"/>
          </a:solidFill>
          <a:ln w="12700">
            <a:solidFill>
              <a:srgbClr val="EBDC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093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724912" y="5093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967728" y="5093208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database on every machine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742432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is used as the course requires. Java replaces PHP for database connectivity with the course teacher's confirmation, as section 2.1 of the guidelines permits.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from the completed interface — every table serves a screen already drawn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084832" cy="1207008"/>
          </a:xfrm>
          <a:prstGeom prst="roundRect">
            <a:avLst>
              <a:gd name="adj" fmla="val 6818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202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A1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23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25496" y="1783080"/>
            <a:ext cx="2084832" cy="1207008"/>
          </a:xfrm>
          <a:prstGeom prst="roundRect">
            <a:avLst>
              <a:gd name="adj" fmla="val 6818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16936" y="19202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A1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2523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84064" y="1783080"/>
            <a:ext cx="2084832" cy="1207008"/>
          </a:xfrm>
          <a:prstGeom prst="roundRect">
            <a:avLst>
              <a:gd name="adj" fmla="val 6818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9202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A1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523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42632" y="1783080"/>
            <a:ext cx="2084832" cy="1207008"/>
          </a:xfrm>
          <a:prstGeom prst="roundRect">
            <a:avLst>
              <a:gd name="adj" fmla="val 6818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34072" y="19202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A1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7434072" y="2523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0" y="1783080"/>
            <a:ext cx="2084832" cy="1207008"/>
          </a:xfrm>
          <a:prstGeom prst="roundRect">
            <a:avLst>
              <a:gd name="adj" fmla="val 6818"/>
            </a:avLst>
          </a:prstGeom>
          <a:solidFill>
            <a:srgbClr val="9A1DC7"/>
          </a:solidFill>
          <a:ln w="12700">
            <a:solidFill>
              <a:srgbClr val="9A1DC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19202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2523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B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273552"/>
            <a:ext cx="11027664" cy="384048"/>
          </a:xfrm>
          <a:prstGeom prst="rect">
            <a:avLst/>
          </a:prstGeom>
          <a:solidFill>
            <a:srgbClr val="9A1DC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" y="327355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511296" y="3273552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379976" y="3273552"/>
            <a:ext cx="7104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entities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657600"/>
            <a:ext cx="1102766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" y="36576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Shelters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511296" y="3657600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379976" y="3657600"/>
            <a:ext cx="7104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 · users · shelter_suites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041648"/>
            <a:ext cx="11027664" cy="384048"/>
          </a:xfrm>
          <a:prstGeom prst="rect">
            <a:avLst/>
          </a:prstGeom>
          <a:solidFill>
            <a:srgbClr val="FBF4F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" y="404164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 &amp; Traits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511296" y="4041648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379976" y="4041648"/>
            <a:ext cx="7104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 · traits · pet_traits · pet_photos · favorites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425696"/>
            <a:ext cx="1102766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6656" y="442569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Matching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511296" y="4425696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379976" y="4425696"/>
            <a:ext cx="7104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quiz_questions · quiz_options · option_traits · attempts · answers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4809744"/>
            <a:ext cx="11027664" cy="384048"/>
          </a:xfrm>
          <a:prstGeom prst="rect">
            <a:avLst/>
          </a:prstGeom>
          <a:solidFill>
            <a:srgbClr val="FBF4F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" y="480974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511296" y="4809744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379976" y="4809744"/>
            <a:ext cx="7104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adoption_applications · adoptions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193792"/>
            <a:ext cx="1102766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76656" y="519379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3511296" y="5193792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379976" y="5193792"/>
            <a:ext cx="7104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boarding_requests · boarding_instructions · boarding_updates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5577840"/>
            <a:ext cx="11027664" cy="384048"/>
          </a:xfrm>
          <a:prstGeom prst="rect">
            <a:avLst/>
          </a:prstGeom>
          <a:solidFill>
            <a:srgbClr val="FBF4F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76656" y="557784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&amp; Health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3511296" y="5577840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4379976" y="5577840"/>
            <a:ext cx="7104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care_tasks · care_logs · vaccinations · vaccine_types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66928" y="5961888"/>
            <a:ext cx="1102766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76656" y="596188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3511296" y="5961888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4379976" y="5961888"/>
            <a:ext cx="7104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 · reports · notifications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Normalisation to 3NF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documented exceptions, all with one reason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11027664" cy="841248"/>
          </a:xfrm>
          <a:prstGeom prst="roundRect">
            <a:avLst>
              <a:gd name="adj" fmla="val 9783"/>
            </a:avLst>
          </a:prstGeom>
          <a:solidFill>
            <a:srgbClr val="3510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1883664"/>
            <a:ext cx="1040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column is a historical record, not a current fact.”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231136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exception below stores a value as it stood at a moment in time, so that a reviewed document does not silently change when the underlying row does.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724912"/>
            <a:ext cx="2724912" cy="2048256"/>
          </a:xfrm>
          <a:prstGeom prst="roundRect">
            <a:avLst>
              <a:gd name="adj" fmla="val 4018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889504"/>
            <a:ext cx="365760" cy="365760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38328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name and address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950208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reviewed application must not change when the adopter later moves house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65576" y="2724912"/>
            <a:ext cx="2724912" cy="2048256"/>
          </a:xfrm>
          <a:prstGeom prst="roundRect">
            <a:avLst>
              <a:gd name="adj" fmla="val 4018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2889504"/>
            <a:ext cx="365760" cy="365760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66744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66744" y="338328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score frozen at submit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3950208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may edit option weights, so recomputing an old score would change 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64224" y="2724912"/>
            <a:ext cx="2724912" cy="2048256"/>
          </a:xfrm>
          <a:prstGeom prst="roundRect">
            <a:avLst>
              <a:gd name="adj" fmla="val 4018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2889504"/>
            <a:ext cx="365760" cy="365760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6539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338328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credited on an adoption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3950208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must credit the shelter that did the adoption, even after a transfer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62872" y="2724912"/>
            <a:ext cx="2724912" cy="2048256"/>
          </a:xfrm>
          <a:prstGeom prst="roundRect">
            <a:avLst>
              <a:gd name="adj" fmla="val 4018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64040" y="2889504"/>
            <a:ext cx="365760" cy="365760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6404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464040" y="338328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rate on a boarding request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464040" y="3950208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quoted to a customer must not change retroactively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084064"/>
            <a:ext cx="11027664" cy="859536"/>
          </a:xfrm>
          <a:prstGeom prst="roundRect">
            <a:avLst>
              <a:gd name="adj" fmla="val 9574"/>
            </a:avLst>
          </a:prstGeom>
          <a:solidFill>
            <a:srgbClr val="F7E9FD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" y="5084064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we deliberately do NOT store: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56048" y="5084064"/>
            <a:ext cx="6327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pet's vaccinated flag — derived from the records, so a green tick can never appear beside an overdue shot.   ·   The adopter's trait profile — exposed as a view instead.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 Coverage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demonstrated through working features, not standalone scripts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11027664" cy="512064"/>
          </a:xfrm>
          <a:prstGeom prst="rect">
            <a:avLst/>
          </a:prstGeom>
          <a:solidFill>
            <a:srgbClr val="9A1D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" y="1847088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51176" y="1847088"/>
            <a:ext cx="8933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produces 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359152"/>
            <a:ext cx="11027664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5915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51176" y="2359152"/>
            <a:ext cx="8933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pet · approve an application · remove a favourite (a real DELETE)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871216"/>
            <a:ext cx="11027664" cy="512064"/>
          </a:xfrm>
          <a:prstGeom prst="rect">
            <a:avLst/>
          </a:prstGeom>
          <a:solidFill>
            <a:srgbClr val="FBF4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2871216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51176" y="2871216"/>
            <a:ext cx="8933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Adoptions grouped by shelter; HAVING drives the shelter capacity alert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11027664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3383280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51176" y="3383280"/>
            <a:ext cx="8933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across the review queue; LEFT JOIN finds pets with no vaccination record at all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895344"/>
            <a:ext cx="11027664" cy="512064"/>
          </a:xfrm>
          <a:prstGeom prst="rect">
            <a:avLst/>
          </a:prstGeom>
          <a:solidFill>
            <a:srgbClr val="FBF4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3895344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551176" y="3895344"/>
            <a:ext cx="8933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— excludes pets the adopter has already applied for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407408"/>
            <a:ext cx="11027664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" y="4407408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4407408"/>
            <a:ext cx="8933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v_pet_listing, consumed by four separate pages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919472"/>
            <a:ext cx="11027664" cy="512064"/>
          </a:xfrm>
          <a:prstGeom prst="rect">
            <a:avLst/>
          </a:prstGeom>
          <a:solidFill>
            <a:srgbClr val="FBF4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" y="491947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551176" y="4919472"/>
            <a:ext cx="8933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an adoption: five steps that must all succeed or all roll back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431536"/>
            <a:ext cx="11027664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" y="5431536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551176" y="5431536"/>
            <a:ext cx="8933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boarding overlap check — it shortens a row lock, not just a query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557784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7E9FD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" y="5742432"/>
            <a:ext cx="1044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checkpoint delivers at least two of the seven, so progress is demonstrable at Week 9 and Week 10 rather than concentrated at the end.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— chosen because the assessment structure is already iterative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486400" cy="3291840"/>
          </a:xfrm>
          <a:prstGeom prst="roundRect">
            <a:avLst>
              <a:gd name="adj" fmla="val 2500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103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Waterfall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05456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requires demonstrable completion of 30% at Week 9, 60% at Week 10 and 100% at Week 11. That is four graded increments of working software. A Waterfall plan, where testing follows a finished build, could not produce a running demonstration at those checkpoints.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methodology is not a preference — it is a consequence of how we are marked.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1874520"/>
            <a:ext cx="5303520" cy="3291840"/>
          </a:xfrm>
          <a:prstGeom prst="roundRect">
            <a:avLst>
              <a:gd name="adj" fmla="val 2500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01968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slices, not layers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01968" y="2505456"/>
            <a:ext cx="256032" cy="256032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01968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986016" y="25054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9984" y="2761488"/>
            <a:ext cx="0" cy="91440"/>
          </a:xfrm>
          <a:prstGeom prst="line">
            <a:avLst/>
          </a:prstGeom>
          <a:noFill/>
          <a:ln w="19050">
            <a:solidFill>
              <a:srgbClr val="D8B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1968" y="2852928"/>
            <a:ext cx="256032" cy="256032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01968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986016" y="2852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9984" y="3108960"/>
            <a:ext cx="0" cy="91440"/>
          </a:xfrm>
          <a:prstGeom prst="line">
            <a:avLst/>
          </a:prstGeom>
          <a:noFill/>
          <a:ln w="19050">
            <a:solidFill>
              <a:srgbClr val="D8B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3200400"/>
            <a:ext cx="256032" cy="256032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01968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3200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9984" y="3456432"/>
            <a:ext cx="0" cy="91440"/>
          </a:xfrm>
          <a:prstGeom prst="line">
            <a:avLst/>
          </a:prstGeom>
          <a:noFill/>
          <a:ln w="19050">
            <a:solidFill>
              <a:srgbClr val="D8B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3547872"/>
            <a:ext cx="256032" cy="256032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01968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986016" y="3547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9984" y="3803904"/>
            <a:ext cx="0" cy="91440"/>
          </a:xfrm>
          <a:prstGeom prst="line">
            <a:avLst/>
          </a:prstGeom>
          <a:noFill/>
          <a:ln w="19050">
            <a:solidFill>
              <a:srgbClr val="D8B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895344"/>
            <a:ext cx="256032" cy="256032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01968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986016" y="3895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29984" y="4151376"/>
            <a:ext cx="0" cy="91440"/>
          </a:xfrm>
          <a:prstGeom prst="line">
            <a:avLst/>
          </a:prstGeom>
          <a:noFill/>
          <a:ln w="19050">
            <a:solidFill>
              <a:srgbClr val="D8B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242816"/>
            <a:ext cx="256032" cy="256032"/>
          </a:xfrm>
          <a:prstGeom prst="ellipse">
            <a:avLst/>
          </a:prstGeom>
          <a:solidFill>
            <a:srgbClr val="C527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01968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986016" y="4242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page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601968" y="462686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increment ships complete features, so every checkpoint demonstrates something that runs.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commit to, and what we deliberately exclude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48256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103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scope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615184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role-based portals with JWT authentication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Shelter, staff-approval and capacity management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profiles, galleries, traits, search and filtering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admin-authored quiz banks and trait matching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applications, review and permanent records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requests, suites, care instructions, updates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tasks, care logs and vaccination records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PDF reports, CSV export and audit trail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1828800"/>
            <a:ext cx="5303520" cy="3749040"/>
          </a:xfrm>
          <a:prstGeom prst="roundRect">
            <a:avLst>
              <a:gd name="adj" fmla="val 2195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048256"/>
            <a:ext cx="402336" cy="402336"/>
          </a:xfrm>
          <a:prstGeom prst="ellipse">
            <a:avLst/>
          </a:prstGeom>
          <a:solidFill>
            <a:srgbClr val="7B6D8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103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scope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01968" y="2615184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processing — fees are recorded as amounts only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 between adopters and shelters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mobile application (the interface is responsive)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Apple sign-in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external veterinary systems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transport and real-time location tracking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7607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exclusions exist so that everything on the left can be delivered completely.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and Work Distribution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579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6334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ER diagram and schema finalised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25496" y="17373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7E9FD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21579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1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6334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authentication, shelters, pets, browsing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4064" y="17373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7E9FD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75504" y="21579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1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26334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Quizzes, applications, approval transaction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42632" y="17373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7E9FD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0648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34072" y="21579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1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488936" y="26334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Boarding, care, analytics and PDF reports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0" y="17373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BF4FE"/>
          </a:solidFill>
          <a:ln w="12700">
            <a:solidFill>
              <a:srgbClr val="E4D2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9216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1579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9747504" y="26334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6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documentation, presentation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803904"/>
            <a:ext cx="11027664" cy="384048"/>
          </a:xfrm>
          <a:prstGeom prst="rect">
            <a:avLst/>
          </a:prstGeom>
          <a:solidFill>
            <a:srgbClr val="9A1DC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" y="3803904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545336" y="380390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area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837176" y="3803904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owned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187952"/>
            <a:ext cx="1102766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" y="4187952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545336" y="4187952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shelters, audit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837176" y="4187952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shelters · shelter_suites · audit_log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572000"/>
            <a:ext cx="11027664" cy="384048"/>
          </a:xfrm>
          <a:prstGeom prst="rect">
            <a:avLst/>
          </a:prstGeom>
          <a:solidFill>
            <a:srgbClr val="FBF4F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6656" y="4572000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545336" y="457200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catalogue and favourites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837176" y="4572000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 · traits · pet_traits · pet_photos · favorites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4956048"/>
            <a:ext cx="1102766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" y="4956048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545336" y="495604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and recommendations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837176" y="4956048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quiz_questions · options · option_traits · attempts · answers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340096"/>
            <a:ext cx="11027664" cy="384048"/>
          </a:xfrm>
          <a:prstGeom prst="rect">
            <a:avLst/>
          </a:prstGeom>
          <a:solidFill>
            <a:srgbClr val="FBF4F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76656" y="5340096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545336" y="534009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reporting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837176" y="5340096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adoption_applications · adoptions · reports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5724144"/>
            <a:ext cx="1102766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76656" y="5724144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1545336" y="572414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Boarding, care, vaccinations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4837176" y="5724144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boarding_* · care_tasks · care_logs · vaccinations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1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Dependencies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BF4FE"/>
          </a:solidFill>
          <a:ln w="12700">
            <a:solidFill>
              <a:srgbClr val="EBDC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29384"/>
            <a:ext cx="365760" cy="365760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783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developers, one schema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1783080"/>
            <a:ext cx="6821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versioned migrations. The schema is never hand-edited, and a migration that has run is never modified.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5176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BF4FE"/>
          </a:solidFill>
          <a:ln w="12700">
            <a:solidFill>
              <a:srgbClr val="EBDC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798064"/>
            <a:ext cx="365760" cy="365760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26517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build window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651760"/>
            <a:ext cx="6821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ordered by checkpoint, so a delay postpones a known feature rather than leaving the system incomplete.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52044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BF4FE"/>
          </a:solidFill>
          <a:ln w="12700">
            <a:solidFill>
              <a:srgbClr val="EBDC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666744"/>
            <a:ext cx="365760" cy="365760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5204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falling behind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3520440"/>
            <a:ext cx="6821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areas are independent, and the first completed module becomes the template the rest follow.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38912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BF4FE"/>
          </a:solidFill>
          <a:ln w="12700">
            <a:solidFill>
              <a:srgbClr val="EBDC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35424"/>
            <a:ext cx="365760" cy="365760"/>
          </a:xfrm>
          <a:prstGeom prst="ellipse">
            <a:avLst/>
          </a:prstGeom>
          <a:solidFill>
            <a:srgbClr val="9A1DC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43891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lab demonstrations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98848" y="4389120"/>
            <a:ext cx="6821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runs in Docker Compose — an identical instance starts with one command on any machine.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349240"/>
            <a:ext cx="11027664" cy="1005840"/>
          </a:xfrm>
          <a:prstGeom prst="roundRect">
            <a:avLst>
              <a:gd name="adj" fmla="val 8182"/>
            </a:avLst>
          </a:prstGeom>
          <a:solidFill>
            <a:srgbClr val="F7E9FD"/>
          </a:solidFill>
          <a:ln w="12700">
            <a:solidFill>
              <a:srgbClr val="C527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1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" y="5742432"/>
            <a:ext cx="10442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approval for Java in place of PHP  ·  Docker Desktop on every machine  ·  MySQL 8.4+ (earlier versions parse CHECK constraints without enforcing them)  ·  All five members present at the Week 8 and Week 12 presentations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51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4A166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4A16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1148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PawHome  ·  A Pet Adoption and Boarding Management System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4439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3522 — Database Management Systems Laboratory  ·  United International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PawHome — Project Proposal</dc:title>
  <dc:subject>PptxGenJS Presentation</dc:subject>
  <dc:creator>PawHome Project Group</dc:creator>
  <cp:lastModifiedBy>PawHome Project Group</cp:lastModifiedBy>
  <cp:revision>1</cp:revision>
  <dcterms:created xsi:type="dcterms:W3CDTF">2026-08-30T18:06:22Z</dcterms:created>
  <dcterms:modified xsi:type="dcterms:W3CDTF">2026-08-30T18:06:22Z</dcterms:modified>
</cp:coreProperties>
</file>