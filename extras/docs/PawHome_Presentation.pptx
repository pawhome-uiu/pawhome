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6a53f0c-264c-9265-fbc7-d9733f0434f1}">
          <p14:sldIdLst>
            <p14:sldId id="256"/>
            <p14:sldId id="257"/>
            <p14:sldId id="258"/>
          </p14:sldIdLst>
        </p14:section>
        <p14:section name="Features and design" id="{6f921c51-caf9-ad36-2de2-4fa2622eadb3}">
          <p14:sldIdLst>
            <p14:sldId id="259"/>
            <p14:sldId id="260"/>
            <p14:sldId id="261"/>
            <p14:sldId id="262"/>
          </p14:sldIdLst>
        </p14:section>
        <p14:section name="Views, transactions, indexes" id="{57f26b8d-7a50-6b22-5e56-c9222a7d570b}">
          <p14:sldIdLst>
            <p14:sldId id="263"/>
            <p14:sldId id="264"/>
            <p14:sldId id="265"/>
          </p14:sldIdLst>
        </p14:section>
        <p14:section name="Comparison, limits and next steps" id="{14e2cdd6-92cf-aadd-f174-1fef1a6473f1}">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system in one line: PawHome manages the whole life of an animal in a shelter's care, not just the adoption. Then state the thesis of the talk — we pushed as much correctness as possible into the database itself, and the interesting part of the project was finding exactly where that stops being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290 is base-table columns; the four views define a further 61 on top of those. 149 is the hand-written SQL and JPQL — Hibernate generates a further 90 single-row writes that never appear in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third point hardest. A pet with an owner cannot be AVAILABLE, and the database refuses the row rather than trusting the service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lists. Pick one item per column and say what is behind it: approving an application is one UPDATE that closes every rival; accepting a stay runs five checks under a lock; the analytics tiles all come out of one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ddl-auto: validate point is worth stressing — the code can never silently change the schema, which is the opposite of the usual Hibernate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63 lines and not 69: several tables reference users more than once — an applicant and a reviewer, a check-in and a check-out staff member — so one line is drawn per table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Linger here. Same parent, opposite answers, decided entirely by what the child row means. The last paragraph usually gets a question: the database performs every cascade, and we verified it by running the deletes and counting what was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framing: we did not add views to make anything faster. We added them because the same definition was being retyped. Reading the catalogue through the view is measurably slower than hand-writing it, and we accepted that trade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version: a CHECK sees one row, so every rule about OTHER rows had to become a lock plus a transaction. That boundary is the most useful thing the project taught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generated-column trick is the thing examiners ask about. Postgres has partial indexes; MySQL does not, so you make a column that is NULL exactly when you want the row exempt, and index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scope: Shelterluv is far larger than a semester project and we are not claiming to beat it. The claim is narrower and defensible — the three purple rows are things neither product models at all. If asked where we are weaker, point at foster placements, donations and the microchip registry, all named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is in the repository as docs/ROLE_AUDIT.md. Offer it if the examiner wants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name only foster placements and the capacity tests. Both follow directly from what is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question, not on a summary of features. If the examiner wants one concrete thing, offer the ON DELETE policy: 69 foreign keys, three different answers, each decided by what the child row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DF7FE"/>
        </a:solidFill>
      </p:bgPr>
    </p:bg>
    <p:spTree>
      <p:nvGrpSpPr>
        <p:cNvPr id="1" name=""/>
        <p:cNvGrpSpPr/>
        <p:nvPr/>
      </p:nvGrpSpPr>
      <p:grpSpPr>
        <a:xfrm>
          <a:off x="0" y="0"/>
          <a:ext cx="0" cy="0"/>
          <a:chOff x="0" y="0"/>
          <a:chExt cx="0" cy="0"/>
        </a:xfrm>
      </p:grpSpPr>
      <p:sp>
        <p:nvSpPr>
          <p:cNvPr id="2" name="Shape 0"/>
          <p:cNvSpPr/>
          <p:nvPr/>
        </p:nvSpPr>
        <p:spPr>
          <a:xfrm>
            <a:off x="0" y="0"/>
            <a:ext cx="12161520" cy="100584"/>
          </a:xfrm>
          <a:prstGeom prst="rect">
            <a:avLst/>
          </a:prstGeom>
          <a:solidFill>
            <a:srgbClr val="B20BF4"/>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7772400" cy="274320"/>
          </a:xfrm>
          <a:prstGeom prst="rect">
            <a:avLst/>
          </a:prstGeom>
          <a:noFill/>
          <a:ln/>
        </p:spPr>
        <p:txBody>
          <a:bodyPr wrap="square" lIns="0" tIns="0" rIns="0" bIns="0" rtlCol="0" anchor="ctr"/>
          <a:lstStyle/>
          <a:p>
            <a:pPr indent="0" marL="0">
              <a:buNone/>
            </a:pPr>
            <a:r>
              <a:rPr lang="en-US" sz="1000" dirty="0">
                <a:solidFill>
                  <a:srgbClr val="6E6578"/>
                </a:solidFill>
              </a:rPr>
              <a:t>PawHome — Pet Adoption and Boarding Management System</a:t>
            </a:r>
            <a:endParaRPr lang="en-US" sz="1000" dirty="0"/>
          </a:p>
        </p:txBody>
      </p:sp>
      <p:sp>
        <p:nvSpPr>
          <p:cNvPr id="3" name="Text 1"/>
          <p:cNvSpPr/>
          <p:nvPr>
            <p:ph idx="101" type="title" hasCustomPrompt="1"/>
          </p:nvPr>
        </p:nvSpPr>
        <p:spPr>
          <a:xfrm>
            <a:off x="548640" y="384048"/>
            <a:ext cx="11064240" cy="786384"/>
          </a:xfrm>
          <a:prstGeom prst="rect">
            <a:avLst/>
          </a:prstGeom>
          <a:noFill/>
          <a:ln/>
        </p:spPr>
        <p:txBody>
          <a:bodyPr wrap="square" rtlCol="0"/>
          <a:lstStyle>
            <a:lvl1pPr algn="l" indent="0" marL="0">
              <a:buNone/>
              <a:defRPr lang="en-US" sz="3200" b="1" dirty="0">
                <a:solidFill>
                  <a:srgbClr val="1A1420"/>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INT">
    <p:bg>
      <p:bgPr>
        <a:solidFill>
          <a:srgbClr val="FDF7FE"/>
        </a:solidFill>
      </p:bgPr>
    </p:bg>
    <p:spTree>
      <p:nvGrpSpPr>
        <p:cNvPr id="1" name=""/>
        <p:cNvGrpSpPr/>
        <p:nvPr/>
      </p:nvGrpSpPr>
      <p:grpSpPr>
        <a:xfrm>
          <a:off x="0" y="0"/>
          <a:ext cx="0" cy="0"/>
          <a:chOff x="0" y="0"/>
          <a:chExt cx="0" cy="0"/>
        </a:xfrm>
      </p:grpSpPr>
      <p:sp>
        <p:nvSpPr>
          <p:cNvPr id="2" name="Text 0"/>
          <p:cNvSpPr txBox="1"/>
          <p:nvPr/>
        </p:nvSpPr>
        <p:spPr>
          <a:xfrm>
            <a:off x="548640" y="6437376"/>
            <a:ext cx="7772400" cy="274320"/>
          </a:xfrm>
          <a:prstGeom prst="rect">
            <a:avLst/>
          </a:prstGeom>
          <a:noFill/>
          <a:ln/>
        </p:spPr>
        <p:txBody>
          <a:bodyPr wrap="square" lIns="0" tIns="0" rIns="0" bIns="0" rtlCol="0" anchor="ctr"/>
          <a:lstStyle/>
          <a:p>
            <a:pPr indent="0" marL="0">
              <a:buNone/>
            </a:pPr>
            <a:r>
              <a:rPr lang="en-US" sz="1000" dirty="0">
                <a:solidFill>
                  <a:srgbClr val="6E6578"/>
                </a:solidFill>
              </a:rPr>
              <a:t>PawHome — Pet Adoption and Boarding Management System</a:t>
            </a:r>
            <a:endParaRPr lang="en-US" sz="1000" dirty="0"/>
          </a:p>
        </p:txBody>
      </p:sp>
      <p:sp>
        <p:nvSpPr>
          <p:cNvPr id="3" name="Text 1"/>
          <p:cNvSpPr/>
          <p:nvPr>
            <p:ph idx="101" type="title" hasCustomPrompt="1"/>
          </p:nvPr>
        </p:nvSpPr>
        <p:spPr>
          <a:xfrm>
            <a:off x="548640" y="384048"/>
            <a:ext cx="11064240" cy="786384"/>
          </a:xfrm>
          <a:prstGeom prst="rect">
            <a:avLst/>
          </a:prstGeom>
          <a:noFill/>
          <a:ln/>
        </p:spPr>
        <p:txBody>
          <a:bodyPr wrap="square" rtlCol="0"/>
          <a:lstStyle>
            <a:lvl1pPr algn="l" indent="0" marL="0">
              <a:buNone/>
              <a:defRPr lang="en-US" sz="3200" b="1" dirty="0">
                <a:solidFill>
                  <a:srgbClr val="1A1420"/>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68680"/>
            <a:ext cx="11064240" cy="310896"/>
          </a:xfrm>
          <a:prstGeom prst="rect">
            <a:avLst/>
          </a:prstGeom>
          <a:noFill/>
          <a:ln/>
        </p:spPr>
        <p:txBody>
          <a:bodyPr wrap="square" lIns="0" tIns="0" rIns="0" bIns="0" rtlCol="0" anchor="ctr"/>
          <a:lstStyle/>
          <a:p>
            <a:pPr indent="0" marL="0">
              <a:buNone/>
            </a:pPr>
            <a:r>
              <a:rPr lang="en-US" sz="1300" b="1" spc="200" kern="0" dirty="0">
                <a:solidFill>
                  <a:srgbClr val="9908D2"/>
                </a:solidFill>
              </a:rPr>
              <a:t>CSE 3522  ·  DATABASE MANAGEMENT SYSTEMS LABORATORY</a:t>
            </a:r>
            <a:endParaRPr lang="en-US" sz="1300" dirty="0"/>
          </a:p>
        </p:txBody>
      </p:sp>
      <p:sp>
        <p:nvSpPr>
          <p:cNvPr id="3" name="Text 1"/>
          <p:cNvSpPr txBox="1"/>
          <p:nvPr/>
        </p:nvSpPr>
        <p:spPr>
          <a:xfrm>
            <a:off x="548640" y="1874520"/>
            <a:ext cx="11064240" cy="1371600"/>
          </a:xfrm>
          <a:prstGeom prst="rect">
            <a:avLst/>
          </a:prstGeom>
          <a:noFill/>
          <a:ln/>
        </p:spPr>
        <p:txBody>
          <a:bodyPr wrap="square" lIns="0" tIns="0" rIns="0" bIns="0" rtlCol="0" anchor="ctr"/>
          <a:lstStyle/>
          <a:p>
            <a:pPr indent="0" marL="0">
              <a:buNone/>
            </a:pPr>
            <a:r>
              <a:rPr lang="en-US" sz="8000" b="1" dirty="0">
                <a:solidFill>
                  <a:srgbClr val="1A1420"/>
                </a:solidFill>
              </a:rPr>
              <a:t>PawHome</a:t>
            </a:r>
            <a:endParaRPr lang="en-US" sz="8000" dirty="0"/>
          </a:p>
        </p:txBody>
      </p:sp>
      <p:sp>
        <p:nvSpPr>
          <p:cNvPr id="4" name="Text 2"/>
          <p:cNvSpPr txBox="1"/>
          <p:nvPr/>
        </p:nvSpPr>
        <p:spPr>
          <a:xfrm>
            <a:off x="548640" y="3310128"/>
            <a:ext cx="9692640" cy="914400"/>
          </a:xfrm>
          <a:prstGeom prst="rect">
            <a:avLst/>
          </a:prstGeom>
          <a:noFill/>
          <a:ln/>
        </p:spPr>
        <p:txBody>
          <a:bodyPr wrap="square" lIns="0" tIns="0" rIns="0" bIns="0" rtlCol="0" anchor="ctr"/>
          <a:lstStyle/>
          <a:p>
            <a:pPr indent="0" marL="0">
              <a:lnSpc>
                <a:spcPct val="115000"/>
              </a:lnSpc>
              <a:buNone/>
            </a:pPr>
            <a:r>
              <a:rPr lang="en-US" sz="2200" dirty="0">
                <a:solidFill>
                  <a:srgbClr val="1A1420"/>
                </a:solidFill>
              </a:rPr>
              <a:t>A pet adoption and boarding management system — built so the database, not the code, holds the rules</a:t>
            </a:r>
            <a:endParaRPr lang="en-US" sz="2200" dirty="0"/>
          </a:p>
        </p:txBody>
      </p:sp>
      <p:sp>
        <p:nvSpPr>
          <p:cNvPr id="5" name="Shape 3"/>
          <p:cNvSpPr/>
          <p:nvPr/>
        </p:nvSpPr>
        <p:spPr>
          <a:xfrm>
            <a:off x="548640" y="5029200"/>
            <a:ext cx="11064240" cy="0"/>
          </a:xfrm>
          <a:prstGeom prst="line">
            <a:avLst/>
          </a:prstGeom>
          <a:noFill/>
          <a:ln w="12700">
            <a:solidFill>
              <a:srgbClr val="DB8FFA"/>
            </a:solidFill>
            <a:prstDash val="solid"/>
          </a:ln>
        </p:spPr>
      </p:sp>
      <p:sp>
        <p:nvSpPr>
          <p:cNvPr id="6" name="Text 4"/>
          <p:cNvSpPr txBox="1"/>
          <p:nvPr/>
        </p:nvSpPr>
        <p:spPr>
          <a:xfrm>
            <a:off x="548640" y="5230368"/>
            <a:ext cx="3657600" cy="237744"/>
          </a:xfrm>
          <a:prstGeom prst="rect">
            <a:avLst/>
          </a:prstGeom>
          <a:noFill/>
          <a:ln/>
        </p:spPr>
        <p:txBody>
          <a:bodyPr wrap="square" lIns="0" tIns="0" rIns="0" bIns="0" rtlCol="0" anchor="ctr"/>
          <a:lstStyle/>
          <a:p>
            <a:pPr indent="0" marL="0">
              <a:buNone/>
            </a:pPr>
            <a:r>
              <a:rPr lang="en-US" sz="1100" dirty="0">
                <a:solidFill>
                  <a:srgbClr val="6E6578"/>
                </a:solidFill>
              </a:rPr>
              <a:t>Team</a:t>
            </a:r>
            <a:endParaRPr lang="en-US" sz="1100" dirty="0"/>
          </a:p>
        </p:txBody>
      </p:sp>
      <p:sp>
        <p:nvSpPr>
          <p:cNvPr id="7" name="Text 5"/>
          <p:cNvSpPr txBox="1"/>
          <p:nvPr/>
        </p:nvSpPr>
        <p:spPr>
          <a:xfrm>
            <a:off x="548640" y="5477256"/>
            <a:ext cx="6583680" cy="310896"/>
          </a:xfrm>
          <a:prstGeom prst="rect">
            <a:avLst/>
          </a:prstGeom>
          <a:noFill/>
          <a:ln/>
        </p:spPr>
        <p:txBody>
          <a:bodyPr wrap="square" lIns="0" tIns="0" rIns="0" bIns="0" rtlCol="0" anchor="ctr"/>
          <a:lstStyle/>
          <a:p>
            <a:pPr indent="0" marL="0">
              <a:buNone/>
            </a:pPr>
            <a:r>
              <a:rPr lang="en-US" sz="1400" b="1" dirty="0">
                <a:solidFill>
                  <a:srgbClr val="1A1420"/>
                </a:solidFill>
              </a:rPr>
              <a:t>Mir Mukararam Hossain  ·  Nowshin Islam Tonni</a:t>
            </a:r>
            <a:endParaRPr lang="en-US" sz="1400" dirty="0"/>
          </a:p>
        </p:txBody>
      </p:sp>
      <p:sp>
        <p:nvSpPr>
          <p:cNvPr id="8" name="Text 6"/>
          <p:cNvSpPr txBox="1"/>
          <p:nvPr/>
        </p:nvSpPr>
        <p:spPr>
          <a:xfrm>
            <a:off x="7589520" y="5230368"/>
            <a:ext cx="4023360" cy="237744"/>
          </a:xfrm>
          <a:prstGeom prst="rect">
            <a:avLst/>
          </a:prstGeom>
          <a:noFill/>
          <a:ln/>
        </p:spPr>
        <p:txBody>
          <a:bodyPr wrap="square" lIns="0" tIns="0" rIns="0" bIns="0" rtlCol="0" anchor="ctr"/>
          <a:lstStyle/>
          <a:p>
            <a:pPr indent="0" marL="0">
              <a:buNone/>
            </a:pPr>
            <a:r>
              <a:rPr lang="en-US" sz="1100" dirty="0">
                <a:solidFill>
                  <a:srgbClr val="6E6578"/>
                </a:solidFill>
              </a:rPr>
              <a:t>Institution</a:t>
            </a:r>
            <a:endParaRPr lang="en-US" sz="1100" dirty="0"/>
          </a:p>
        </p:txBody>
      </p:sp>
      <p:sp>
        <p:nvSpPr>
          <p:cNvPr id="9" name="Text 7"/>
          <p:cNvSpPr txBox="1"/>
          <p:nvPr/>
        </p:nvSpPr>
        <p:spPr>
          <a:xfrm>
            <a:off x="7589520" y="5477256"/>
            <a:ext cx="4023360" cy="310896"/>
          </a:xfrm>
          <a:prstGeom prst="rect">
            <a:avLst/>
          </a:prstGeom>
          <a:noFill/>
          <a:ln/>
        </p:spPr>
        <p:txBody>
          <a:bodyPr wrap="square" lIns="0" tIns="0" rIns="0" bIns="0" rtlCol="0" anchor="ctr"/>
          <a:lstStyle/>
          <a:p>
            <a:pPr indent="0" marL="0">
              <a:buNone/>
            </a:pPr>
            <a:r>
              <a:rPr lang="en-US" sz="1400" b="1" dirty="0">
                <a:solidFill>
                  <a:srgbClr val="1A1420"/>
                </a:solidFill>
              </a:rPr>
              <a:t>United International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One animal, its whole life in the shelter’s care</a:t>
            </a:r>
            <a:endParaRPr lang="en-US" sz="3200" dirty="0"/>
          </a:p>
        </p:txBody>
      </p:sp>
      <p:sp>
        <p:nvSpPr>
          <p:cNvPr id="3" name="Text 1"/>
          <p:cNvSpPr txBox="1"/>
          <p:nvPr/>
        </p:nvSpPr>
        <p:spPr>
          <a:xfrm>
            <a:off x="548640" y="1335024"/>
            <a:ext cx="11064240" cy="822960"/>
          </a:xfrm>
          <a:prstGeom prst="rect">
            <a:avLst/>
          </a:prstGeom>
          <a:noFill/>
          <a:ln/>
        </p:spPr>
        <p:txBody>
          <a:bodyPr wrap="square" lIns="0" tIns="0" rIns="0" bIns="0" rtlCol="0" anchor="ctr"/>
          <a:lstStyle/>
          <a:p>
            <a:pPr indent="0" marL="0">
              <a:lnSpc>
                <a:spcPct val="115000"/>
              </a:lnSpc>
              <a:buNone/>
            </a:pPr>
            <a:r>
              <a:rPr lang="en-US" sz="1500" dirty="0">
                <a:solidFill>
                  <a:srgbClr val="3D3645"/>
                </a:solidFill>
              </a:rPr>
              <a:t>A pet is registered, listed publicly, applied for and adopted — and then, as an owned pet, comes back for boarding or a daycare subscription, each with its own rooms, capacity limits, daily care record and bill. Three roles use it: adopter, shelter staff, administrator.</a:t>
            </a:r>
            <a:endParaRPr lang="en-US" sz="1500" dirty="0"/>
          </a:p>
        </p:txBody>
      </p:sp>
      <p:sp>
        <p:nvSpPr>
          <p:cNvPr id="4" name="Shape 2"/>
          <p:cNvSpPr/>
          <p:nvPr/>
        </p:nvSpPr>
        <p:spPr>
          <a:xfrm>
            <a:off x="548640" y="2395728"/>
            <a:ext cx="2615184" cy="1938528"/>
          </a:xfrm>
          <a:prstGeom prst="roundRect">
            <a:avLst>
              <a:gd name="adj" fmla="val 5660"/>
            </a:avLst>
          </a:prstGeom>
          <a:solidFill>
            <a:srgbClr val="F4E3F8"/>
          </a:solidFill>
          <a:ln w="9525">
            <a:solidFill>
              <a:srgbClr val="DB8FFA"/>
            </a:solidFill>
            <a:prstDash val="solid"/>
          </a:ln>
        </p:spPr>
      </p:sp>
      <p:sp>
        <p:nvSpPr>
          <p:cNvPr id="5" name="Text 3"/>
          <p:cNvSpPr txBox="1"/>
          <p:nvPr/>
        </p:nvSpPr>
        <p:spPr>
          <a:xfrm>
            <a:off x="768096" y="2542032"/>
            <a:ext cx="2176272" cy="786384"/>
          </a:xfrm>
          <a:prstGeom prst="rect">
            <a:avLst/>
          </a:prstGeom>
          <a:noFill/>
          <a:ln/>
        </p:spPr>
        <p:txBody>
          <a:bodyPr wrap="square" lIns="0" tIns="0" rIns="0" bIns="0" rtlCol="0" anchor="ctr"/>
          <a:lstStyle/>
          <a:p>
            <a:pPr indent="0" marL="0">
              <a:buNone/>
            </a:pPr>
            <a:r>
              <a:rPr lang="en-US" sz="4800" b="1" dirty="0">
                <a:solidFill>
                  <a:srgbClr val="9908D2"/>
                </a:solidFill>
              </a:rPr>
              <a:t>32</a:t>
            </a:r>
            <a:endParaRPr lang="en-US" sz="4800" dirty="0"/>
          </a:p>
        </p:txBody>
      </p:sp>
      <p:sp>
        <p:nvSpPr>
          <p:cNvPr id="6" name="Text 4"/>
          <p:cNvSpPr txBox="1"/>
          <p:nvPr/>
        </p:nvSpPr>
        <p:spPr>
          <a:xfrm>
            <a:off x="768096" y="3364992"/>
            <a:ext cx="2176272" cy="310896"/>
          </a:xfrm>
          <a:prstGeom prst="rect">
            <a:avLst/>
          </a:prstGeom>
          <a:noFill/>
          <a:ln/>
        </p:spPr>
        <p:txBody>
          <a:bodyPr wrap="square" lIns="0" tIns="0" rIns="0" bIns="0" rtlCol="0" anchor="ctr"/>
          <a:lstStyle/>
          <a:p>
            <a:pPr indent="0" marL="0">
              <a:buNone/>
            </a:pPr>
            <a:r>
              <a:rPr lang="en-US" sz="1400" b="1" dirty="0">
                <a:solidFill>
                  <a:srgbClr val="1A1420"/>
                </a:solidFill>
              </a:rPr>
              <a:t>base tables</a:t>
            </a:r>
            <a:endParaRPr lang="en-US" sz="1400" dirty="0"/>
          </a:p>
        </p:txBody>
      </p:sp>
      <p:sp>
        <p:nvSpPr>
          <p:cNvPr id="7" name="Text 5"/>
          <p:cNvSpPr txBox="1"/>
          <p:nvPr/>
        </p:nvSpPr>
        <p:spPr>
          <a:xfrm>
            <a:off x="768096" y="3694176"/>
            <a:ext cx="2176272" cy="310896"/>
          </a:xfrm>
          <a:prstGeom prst="rect">
            <a:avLst/>
          </a:prstGeom>
          <a:noFill/>
          <a:ln/>
        </p:spPr>
        <p:txBody>
          <a:bodyPr wrap="square" lIns="0" tIns="0" rIns="0" bIns="0" rtlCol="0" anchor="ctr"/>
          <a:lstStyle/>
          <a:p>
            <a:pPr indent="0" marL="0">
              <a:buNone/>
            </a:pPr>
            <a:r>
              <a:rPr lang="en-US" sz="1200" dirty="0">
                <a:solidFill>
                  <a:srgbClr val="3D3645"/>
                </a:solidFill>
              </a:rPr>
              <a:t>290 columns, 4 views</a:t>
            </a:r>
            <a:endParaRPr lang="en-US" sz="1200" dirty="0"/>
          </a:p>
        </p:txBody>
      </p:sp>
      <p:sp>
        <p:nvSpPr>
          <p:cNvPr id="8" name="Shape 6"/>
          <p:cNvSpPr/>
          <p:nvPr/>
        </p:nvSpPr>
        <p:spPr>
          <a:xfrm>
            <a:off x="3364992" y="2395728"/>
            <a:ext cx="2615184" cy="1938528"/>
          </a:xfrm>
          <a:prstGeom prst="roundRect">
            <a:avLst>
              <a:gd name="adj" fmla="val 5660"/>
            </a:avLst>
          </a:prstGeom>
          <a:solidFill>
            <a:srgbClr val="F4E3F8"/>
          </a:solidFill>
          <a:ln w="9525">
            <a:solidFill>
              <a:srgbClr val="DB8FFA"/>
            </a:solidFill>
            <a:prstDash val="solid"/>
          </a:ln>
        </p:spPr>
      </p:sp>
      <p:sp>
        <p:nvSpPr>
          <p:cNvPr id="9" name="Text 7"/>
          <p:cNvSpPr txBox="1"/>
          <p:nvPr/>
        </p:nvSpPr>
        <p:spPr>
          <a:xfrm>
            <a:off x="3584448" y="2542032"/>
            <a:ext cx="2176272" cy="786384"/>
          </a:xfrm>
          <a:prstGeom prst="rect">
            <a:avLst/>
          </a:prstGeom>
          <a:noFill/>
          <a:ln/>
        </p:spPr>
        <p:txBody>
          <a:bodyPr wrap="square" lIns="0" tIns="0" rIns="0" bIns="0" rtlCol="0" anchor="ctr"/>
          <a:lstStyle/>
          <a:p>
            <a:pPr indent="0" marL="0">
              <a:buNone/>
            </a:pPr>
            <a:r>
              <a:rPr lang="en-US" sz="4800" b="1" dirty="0">
                <a:solidFill>
                  <a:srgbClr val="9908D2"/>
                </a:solidFill>
              </a:rPr>
              <a:t>69</a:t>
            </a:r>
            <a:endParaRPr lang="en-US" sz="4800" dirty="0"/>
          </a:p>
        </p:txBody>
      </p:sp>
      <p:sp>
        <p:nvSpPr>
          <p:cNvPr id="10" name="Text 8"/>
          <p:cNvSpPr txBox="1"/>
          <p:nvPr/>
        </p:nvSpPr>
        <p:spPr>
          <a:xfrm>
            <a:off x="3584448" y="3364992"/>
            <a:ext cx="2176272" cy="310896"/>
          </a:xfrm>
          <a:prstGeom prst="rect">
            <a:avLst/>
          </a:prstGeom>
          <a:noFill/>
          <a:ln/>
        </p:spPr>
        <p:txBody>
          <a:bodyPr wrap="square" lIns="0" tIns="0" rIns="0" bIns="0" rtlCol="0" anchor="ctr"/>
          <a:lstStyle/>
          <a:p>
            <a:pPr indent="0" marL="0">
              <a:buNone/>
            </a:pPr>
            <a:r>
              <a:rPr lang="en-US" sz="1400" b="1" dirty="0">
                <a:solidFill>
                  <a:srgbClr val="1A1420"/>
                </a:solidFill>
              </a:rPr>
              <a:t>foreign keys</a:t>
            </a:r>
            <a:endParaRPr lang="en-US" sz="1400" dirty="0"/>
          </a:p>
        </p:txBody>
      </p:sp>
      <p:sp>
        <p:nvSpPr>
          <p:cNvPr id="11" name="Text 9"/>
          <p:cNvSpPr txBox="1"/>
          <p:nvPr/>
        </p:nvSpPr>
        <p:spPr>
          <a:xfrm>
            <a:off x="3584448" y="3694176"/>
            <a:ext cx="2176272" cy="310896"/>
          </a:xfrm>
          <a:prstGeom prst="rect">
            <a:avLst/>
          </a:prstGeom>
          <a:noFill/>
          <a:ln/>
        </p:spPr>
        <p:txBody>
          <a:bodyPr wrap="square" lIns="0" tIns="0" rIns="0" bIns="0" rtlCol="0" anchor="ctr"/>
          <a:lstStyle/>
          <a:p>
            <a:pPr indent="0" marL="0">
              <a:buNone/>
            </a:pPr>
            <a:r>
              <a:rPr lang="en-US" sz="1200" dirty="0">
                <a:solidFill>
                  <a:srgbClr val="3D3645"/>
                </a:solidFill>
              </a:rPr>
              <a:t>39 CHECK constraints</a:t>
            </a:r>
            <a:endParaRPr lang="en-US" sz="1200" dirty="0"/>
          </a:p>
        </p:txBody>
      </p:sp>
      <p:sp>
        <p:nvSpPr>
          <p:cNvPr id="12" name="Shape 10"/>
          <p:cNvSpPr/>
          <p:nvPr/>
        </p:nvSpPr>
        <p:spPr>
          <a:xfrm>
            <a:off x="6181344" y="2395728"/>
            <a:ext cx="2615184" cy="1938528"/>
          </a:xfrm>
          <a:prstGeom prst="roundRect">
            <a:avLst>
              <a:gd name="adj" fmla="val 5660"/>
            </a:avLst>
          </a:prstGeom>
          <a:solidFill>
            <a:srgbClr val="F4E3F8"/>
          </a:solidFill>
          <a:ln w="9525">
            <a:solidFill>
              <a:srgbClr val="DB8FFA"/>
            </a:solidFill>
            <a:prstDash val="solid"/>
          </a:ln>
        </p:spPr>
      </p:sp>
      <p:sp>
        <p:nvSpPr>
          <p:cNvPr id="13" name="Text 11"/>
          <p:cNvSpPr txBox="1"/>
          <p:nvPr/>
        </p:nvSpPr>
        <p:spPr>
          <a:xfrm>
            <a:off x="6400800" y="2542032"/>
            <a:ext cx="2176272" cy="786384"/>
          </a:xfrm>
          <a:prstGeom prst="rect">
            <a:avLst/>
          </a:prstGeom>
          <a:noFill/>
          <a:ln/>
        </p:spPr>
        <p:txBody>
          <a:bodyPr wrap="square" lIns="0" tIns="0" rIns="0" bIns="0" rtlCol="0" anchor="ctr"/>
          <a:lstStyle/>
          <a:p>
            <a:pPr indent="0" marL="0">
              <a:buNone/>
            </a:pPr>
            <a:r>
              <a:rPr lang="en-US" sz="4800" b="1" dirty="0">
                <a:solidFill>
                  <a:srgbClr val="9908D2"/>
                </a:solidFill>
              </a:rPr>
              <a:t>151</a:t>
            </a:r>
            <a:endParaRPr lang="en-US" sz="4800" dirty="0"/>
          </a:p>
        </p:txBody>
      </p:sp>
      <p:sp>
        <p:nvSpPr>
          <p:cNvPr id="14" name="Text 12"/>
          <p:cNvSpPr txBox="1"/>
          <p:nvPr/>
        </p:nvSpPr>
        <p:spPr>
          <a:xfrm>
            <a:off x="6400800" y="3364992"/>
            <a:ext cx="2176272" cy="310896"/>
          </a:xfrm>
          <a:prstGeom prst="rect">
            <a:avLst/>
          </a:prstGeom>
          <a:noFill/>
          <a:ln/>
        </p:spPr>
        <p:txBody>
          <a:bodyPr wrap="square" lIns="0" tIns="0" rIns="0" bIns="0" rtlCol="0" anchor="ctr"/>
          <a:lstStyle/>
          <a:p>
            <a:pPr indent="0" marL="0">
              <a:buNone/>
            </a:pPr>
            <a:r>
              <a:rPr lang="en-US" sz="1400" b="1" dirty="0">
                <a:solidFill>
                  <a:srgbClr val="1A1420"/>
                </a:solidFill>
              </a:rPr>
              <a:t>REST endpoints</a:t>
            </a:r>
            <a:endParaRPr lang="en-US" sz="1400" dirty="0"/>
          </a:p>
        </p:txBody>
      </p:sp>
      <p:sp>
        <p:nvSpPr>
          <p:cNvPr id="15" name="Text 13"/>
          <p:cNvSpPr txBox="1"/>
          <p:nvPr/>
        </p:nvSpPr>
        <p:spPr>
          <a:xfrm>
            <a:off x="6400800" y="3694176"/>
            <a:ext cx="2176272" cy="310896"/>
          </a:xfrm>
          <a:prstGeom prst="rect">
            <a:avLst/>
          </a:prstGeom>
          <a:noFill/>
          <a:ln/>
        </p:spPr>
        <p:txBody>
          <a:bodyPr wrap="square" lIns="0" tIns="0" rIns="0" bIns="0" rtlCol="0" anchor="ctr"/>
          <a:lstStyle/>
          <a:p>
            <a:pPr indent="0" marL="0">
              <a:buNone/>
            </a:pPr>
            <a:r>
              <a:rPr lang="en-US" sz="1200" dirty="0">
                <a:solidFill>
                  <a:srgbClr val="3D3645"/>
                </a:solidFill>
              </a:rPr>
              <a:t>47 screens, 3 roles</a:t>
            </a:r>
            <a:endParaRPr lang="en-US" sz="1200" dirty="0"/>
          </a:p>
        </p:txBody>
      </p:sp>
      <p:sp>
        <p:nvSpPr>
          <p:cNvPr id="16" name="Shape 14"/>
          <p:cNvSpPr/>
          <p:nvPr/>
        </p:nvSpPr>
        <p:spPr>
          <a:xfrm>
            <a:off x="8997696" y="2395728"/>
            <a:ext cx="2615184" cy="1938528"/>
          </a:xfrm>
          <a:prstGeom prst="roundRect">
            <a:avLst>
              <a:gd name="adj" fmla="val 5660"/>
            </a:avLst>
          </a:prstGeom>
          <a:solidFill>
            <a:srgbClr val="F4E3F8"/>
          </a:solidFill>
          <a:ln w="9525">
            <a:solidFill>
              <a:srgbClr val="DB8FFA"/>
            </a:solidFill>
            <a:prstDash val="solid"/>
          </a:ln>
        </p:spPr>
      </p:sp>
      <p:sp>
        <p:nvSpPr>
          <p:cNvPr id="17" name="Text 15"/>
          <p:cNvSpPr txBox="1"/>
          <p:nvPr/>
        </p:nvSpPr>
        <p:spPr>
          <a:xfrm>
            <a:off x="9217152" y="2542032"/>
            <a:ext cx="2176272" cy="786384"/>
          </a:xfrm>
          <a:prstGeom prst="rect">
            <a:avLst/>
          </a:prstGeom>
          <a:noFill/>
          <a:ln/>
        </p:spPr>
        <p:txBody>
          <a:bodyPr wrap="square" lIns="0" tIns="0" rIns="0" bIns="0" rtlCol="0" anchor="ctr"/>
          <a:lstStyle/>
          <a:p>
            <a:pPr indent="0" marL="0">
              <a:buNone/>
            </a:pPr>
            <a:r>
              <a:rPr lang="en-US" sz="4800" b="1" dirty="0">
                <a:solidFill>
                  <a:srgbClr val="9908D2"/>
                </a:solidFill>
              </a:rPr>
              <a:t>149</a:t>
            </a:r>
            <a:endParaRPr lang="en-US" sz="4800" dirty="0"/>
          </a:p>
        </p:txBody>
      </p:sp>
      <p:sp>
        <p:nvSpPr>
          <p:cNvPr id="18" name="Text 16"/>
          <p:cNvSpPr txBox="1"/>
          <p:nvPr/>
        </p:nvSpPr>
        <p:spPr>
          <a:xfrm>
            <a:off x="9217152" y="3364992"/>
            <a:ext cx="2176272" cy="310896"/>
          </a:xfrm>
          <a:prstGeom prst="rect">
            <a:avLst/>
          </a:prstGeom>
          <a:noFill/>
          <a:ln/>
        </p:spPr>
        <p:txBody>
          <a:bodyPr wrap="square" lIns="0" tIns="0" rIns="0" bIns="0" rtlCol="0" anchor="ctr"/>
          <a:lstStyle/>
          <a:p>
            <a:pPr indent="0" marL="0">
              <a:buNone/>
            </a:pPr>
            <a:r>
              <a:rPr lang="en-US" sz="1400" b="1" dirty="0">
                <a:solidFill>
                  <a:srgbClr val="1A1420"/>
                </a:solidFill>
              </a:rPr>
              <a:t>hand-written queries</a:t>
            </a:r>
            <a:endParaRPr lang="en-US" sz="1400" dirty="0"/>
          </a:p>
        </p:txBody>
      </p:sp>
      <p:sp>
        <p:nvSpPr>
          <p:cNvPr id="19" name="Text 17"/>
          <p:cNvSpPr txBox="1"/>
          <p:nvPr/>
        </p:nvSpPr>
        <p:spPr>
          <a:xfrm>
            <a:off x="9217152" y="3694176"/>
            <a:ext cx="2176272" cy="310896"/>
          </a:xfrm>
          <a:prstGeom prst="rect">
            <a:avLst/>
          </a:prstGeom>
          <a:noFill/>
          <a:ln/>
        </p:spPr>
        <p:txBody>
          <a:bodyPr wrap="square" lIns="0" tIns="0" rIns="0" bIns="0" rtlCol="0" anchor="ctr"/>
          <a:lstStyle/>
          <a:p>
            <a:pPr indent="0" marL="0">
              <a:buNone/>
            </a:pPr>
            <a:r>
              <a:rPr lang="en-US" sz="1200" dirty="0">
                <a:solidFill>
                  <a:srgbClr val="3D3645"/>
                </a:solidFill>
              </a:rPr>
              <a:t>plus 19 migrations</a:t>
            </a:r>
            <a:endParaRPr lang="en-US" sz="1200" dirty="0"/>
          </a:p>
        </p:txBody>
      </p:sp>
      <p:sp>
        <p:nvSpPr>
          <p:cNvPr id="20" name="Text 18"/>
          <p:cNvSpPr txBox="1"/>
          <p:nvPr/>
        </p:nvSpPr>
        <p:spPr>
          <a:xfrm>
            <a:off x="548640" y="4681728"/>
            <a:ext cx="11064240" cy="310896"/>
          </a:xfrm>
          <a:prstGeom prst="rect">
            <a:avLst/>
          </a:prstGeom>
          <a:noFill/>
          <a:ln/>
        </p:spPr>
        <p:txBody>
          <a:bodyPr wrap="square" lIns="0" tIns="0" rIns="0" bIns="0" rtlCol="0" anchor="ctr"/>
          <a:lstStyle/>
          <a:p>
            <a:pPr indent="0" marL="0">
              <a:buNone/>
            </a:pPr>
            <a:r>
              <a:rPr lang="en-US" sz="1200" dirty="0">
                <a:solidFill>
                  <a:srgbClr val="6E6578"/>
                </a:solidFill>
              </a:rPr>
              <a:t>Spring Boot 3.4.1  ·  Java 17  ·  React 19  ·  MySQL 8.4 in Docker  ·  Flyway-owned schema, Hibernate on ddl-auto: validate</a:t>
            </a:r>
            <a:endParaRPr lang="en-US" sz="1200" dirty="0"/>
          </a:p>
        </p:txBody>
      </p:sp>
      <p:sp>
        <p:nvSpPr>
          <p:cNvPr id="21" name="Text 19"/>
          <p:cNvSpPr txBox="1"/>
          <p:nvPr/>
        </p:nvSpPr>
        <p:spPr>
          <a:xfrm>
            <a:off x="548640" y="5047488"/>
            <a:ext cx="11064240" cy="310896"/>
          </a:xfrm>
          <a:prstGeom prst="rect">
            <a:avLst/>
          </a:prstGeom>
          <a:noFill/>
          <a:ln/>
        </p:spPr>
        <p:txBody>
          <a:bodyPr wrap="square" lIns="0" tIns="0" rIns="0" bIns="0" rtlCol="0" anchor="ctr"/>
          <a:lstStyle/>
          <a:p>
            <a:pPr indent="0" marL="0">
              <a:buNone/>
            </a:pPr>
            <a:r>
              <a:rPr lang="en-US" sz="1250" i="1" dirty="0">
                <a:solidFill>
                  <a:srgbClr val="9908D2"/>
                </a:solidFill>
              </a:rPr>
              <a:t>Every number here was read from the running database or counted from the source — none estimated.</a:t>
            </a:r>
            <a:endParaRPr lang="en-US" sz="12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Why we built it</a:t>
            </a:r>
            <a:endParaRPr lang="en-US" sz="3200" dirty="0"/>
          </a:p>
        </p:txBody>
      </p:sp>
      <p:sp>
        <p:nvSpPr>
          <p:cNvPr id="3" name="Shape 1"/>
          <p:cNvSpPr/>
          <p:nvPr/>
        </p:nvSpPr>
        <p:spPr>
          <a:xfrm>
            <a:off x="548640" y="1426464"/>
            <a:ext cx="3566160" cy="3566160"/>
          </a:xfrm>
          <a:prstGeom prst="roundRect">
            <a:avLst>
              <a:gd name="adj" fmla="val 3077"/>
            </a:avLst>
          </a:prstGeom>
          <a:solidFill>
            <a:srgbClr val="FFFFFF"/>
          </a:solidFill>
          <a:ln w="15875">
            <a:solidFill>
              <a:srgbClr val="DB8FFA"/>
            </a:solidFill>
            <a:prstDash val="solid"/>
          </a:ln>
        </p:spPr>
      </p:sp>
      <p:sp>
        <p:nvSpPr>
          <p:cNvPr id="4" name="Text 2"/>
          <p:cNvSpPr txBox="1"/>
          <p:nvPr/>
        </p:nvSpPr>
        <p:spPr>
          <a:xfrm>
            <a:off x="786384" y="163677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A notebook cannot join</a:t>
            </a:r>
            <a:endParaRPr lang="en-US" sz="1700" dirty="0"/>
          </a:p>
        </p:txBody>
      </p:sp>
      <p:sp>
        <p:nvSpPr>
          <p:cNvPr id="5" name="Text 3"/>
          <p:cNvSpPr txBox="1"/>
          <p:nvPr/>
        </p:nvSpPr>
        <p:spPr>
          <a:xfrm>
            <a:off x="786384" y="2084832"/>
            <a:ext cx="3090672" cy="2670048"/>
          </a:xfrm>
          <a:prstGeom prst="rect">
            <a:avLst/>
          </a:prstGeom>
          <a:noFill/>
          <a:ln/>
        </p:spPr>
        <p:txBody>
          <a:bodyPr wrap="square" lIns="0" tIns="0" rIns="0" bIns="0" rtlCol="0" anchor="t"/>
          <a:lstStyle/>
          <a:p>
            <a:pPr indent="0" marL="0">
              <a:lnSpc>
                <a:spcPct val="112000"/>
              </a:lnSpc>
              <a:buNone/>
            </a:pPr>
            <a:r>
              <a:rPr lang="en-US" sz="1250" dirty="0">
                <a:solidFill>
                  <a:srgbClr val="3D3645"/>
                </a:solidFill>
              </a:rPr>
              <a:t>Small shelters keep records on paper or a spreadsheet. That works for a list of names and fails where it matters — when an animal has a history. Which shots are due, who fed the dog in room 3, whether this family already has an application open elsewhere, how many nights a stay actually ran. Every one of those is a join.</a:t>
            </a:r>
            <a:endParaRPr lang="en-US" sz="1250" dirty="0"/>
          </a:p>
        </p:txBody>
      </p:sp>
      <p:sp>
        <p:nvSpPr>
          <p:cNvPr id="6" name="Shape 4"/>
          <p:cNvSpPr/>
          <p:nvPr/>
        </p:nvSpPr>
        <p:spPr>
          <a:xfrm>
            <a:off x="4297680" y="1426464"/>
            <a:ext cx="3566160" cy="3566160"/>
          </a:xfrm>
          <a:prstGeom prst="roundRect">
            <a:avLst>
              <a:gd name="adj" fmla="val 3077"/>
            </a:avLst>
          </a:prstGeom>
          <a:solidFill>
            <a:srgbClr val="FFFFFF"/>
          </a:solidFill>
          <a:ln w="15875">
            <a:solidFill>
              <a:srgbClr val="DB8FFA"/>
            </a:solidFill>
            <a:prstDash val="solid"/>
          </a:ln>
        </p:spPr>
      </p:sp>
      <p:sp>
        <p:nvSpPr>
          <p:cNvPr id="7" name="Text 5"/>
          <p:cNvSpPr txBox="1"/>
          <p:nvPr/>
        </p:nvSpPr>
        <p:spPr>
          <a:xfrm>
            <a:off x="4535424" y="163677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The hard problems are database problems</a:t>
            </a:r>
            <a:endParaRPr lang="en-US" sz="1700" dirty="0"/>
          </a:p>
        </p:txBody>
      </p:sp>
      <p:sp>
        <p:nvSpPr>
          <p:cNvPr id="8" name="Text 6"/>
          <p:cNvSpPr txBox="1"/>
          <p:nvPr/>
        </p:nvSpPr>
        <p:spPr>
          <a:xfrm>
            <a:off x="4535424" y="2084832"/>
            <a:ext cx="3090672" cy="2670048"/>
          </a:xfrm>
          <a:prstGeom prst="rect">
            <a:avLst/>
          </a:prstGeom>
          <a:noFill/>
          <a:ln/>
        </p:spPr>
        <p:txBody>
          <a:bodyPr wrap="square" lIns="0" tIns="0" rIns="0" bIns="0" rtlCol="0" anchor="t"/>
          <a:lstStyle/>
          <a:p>
            <a:pPr indent="0" marL="0">
              <a:lnSpc>
                <a:spcPct val="112000"/>
              </a:lnSpc>
              <a:buNone/>
            </a:pPr>
            <a:r>
              <a:rPr lang="en-US" sz="1250" dirty="0">
                <a:solidFill>
                  <a:srgbClr val="3D3645"/>
                </a:solidFill>
              </a:rPr>
              <a:t>We wanted the difficulty to live in the data, not the interface. A pet must not be double-booked however fast two staff click. A cat room must not take a dog. Approving one application must close every rival in one statement. A bill, once issued, must not change.</a:t>
            </a:r>
            <a:endParaRPr lang="en-US" sz="1250" dirty="0"/>
          </a:p>
        </p:txBody>
      </p:sp>
      <p:sp>
        <p:nvSpPr>
          <p:cNvPr id="9" name="Shape 7"/>
          <p:cNvSpPr/>
          <p:nvPr/>
        </p:nvSpPr>
        <p:spPr>
          <a:xfrm>
            <a:off x="8046720" y="1426464"/>
            <a:ext cx="3566160" cy="3566160"/>
          </a:xfrm>
          <a:prstGeom prst="roundRect">
            <a:avLst>
              <a:gd name="adj" fmla="val 3077"/>
            </a:avLst>
          </a:prstGeom>
          <a:solidFill>
            <a:srgbClr val="FFFFFF"/>
          </a:solidFill>
          <a:ln w="15875">
            <a:solidFill>
              <a:srgbClr val="DB8FFA"/>
            </a:solidFill>
            <a:prstDash val="solid"/>
          </a:ln>
        </p:spPr>
      </p:sp>
      <p:sp>
        <p:nvSpPr>
          <p:cNvPr id="10" name="Text 8"/>
          <p:cNvSpPr txBox="1"/>
          <p:nvPr/>
        </p:nvSpPr>
        <p:spPr>
          <a:xfrm>
            <a:off x="8284464" y="163677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One pet, several relationships</a:t>
            </a:r>
            <a:endParaRPr lang="en-US" sz="1700" dirty="0"/>
          </a:p>
        </p:txBody>
      </p:sp>
      <p:sp>
        <p:nvSpPr>
          <p:cNvPr id="11" name="Text 9"/>
          <p:cNvSpPr txBox="1"/>
          <p:nvPr/>
        </p:nvSpPr>
        <p:spPr>
          <a:xfrm>
            <a:off x="8284464" y="2084832"/>
            <a:ext cx="3090672" cy="2670048"/>
          </a:xfrm>
          <a:prstGeom prst="rect">
            <a:avLst/>
          </a:prstGeom>
          <a:noFill/>
          <a:ln/>
        </p:spPr>
        <p:txBody>
          <a:bodyPr wrap="square" lIns="0" tIns="0" rIns="0" bIns="0" rtlCol="0" anchor="t"/>
          <a:lstStyle/>
          <a:p>
            <a:pPr indent="0" marL="0">
              <a:lnSpc>
                <a:spcPct val="112000"/>
              </a:lnSpc>
              <a:buNone/>
            </a:pPr>
            <a:r>
              <a:rPr lang="en-US" sz="1250" dirty="0">
                <a:solidFill>
                  <a:srgbClr val="3D3645"/>
                </a:solidFill>
              </a:rPr>
              <a:t>The same animal is shelter stock, then an adopted pet owned by a person, then a paying guest in boarding. Two tables duplicate the animal; one table must express in constraints that an owned pet cannot be listed as available. We chose one table and paid for it in CHECKs.</a:t>
            </a:r>
            <a:endParaRPr lang="en-US" sz="1250" dirty="0"/>
          </a:p>
        </p:txBody>
      </p:sp>
      <p:sp>
        <p:nvSpPr>
          <p:cNvPr id="12" name="Text 10"/>
          <p:cNvSpPr txBox="1"/>
          <p:nvPr/>
        </p:nvSpPr>
        <p:spPr>
          <a:xfrm>
            <a:off x="548640" y="5230368"/>
            <a:ext cx="11064240" cy="310896"/>
          </a:xfrm>
          <a:prstGeom prst="rect">
            <a:avLst/>
          </a:prstGeom>
          <a:noFill/>
          <a:ln/>
        </p:spPr>
        <p:txBody>
          <a:bodyPr wrap="square" lIns="0" tIns="0" rIns="0" bIns="0" rtlCol="0" anchor="ctr"/>
          <a:lstStyle/>
          <a:p>
            <a:pPr indent="0" marL="0">
              <a:buNone/>
            </a:pPr>
            <a:r>
              <a:rPr lang="en-US" sz="1250" i="1" dirty="0">
                <a:solidFill>
                  <a:srgbClr val="9908D2"/>
                </a:solidFill>
              </a:rPr>
              <a:t>The third point is the modelling decision that made the project worth doing — ck_pets_owner_when_placed is the constraint that enforces it.</a:t>
            </a:r>
            <a:endParaRPr lang="en-US" sz="12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Key features, by role</a:t>
            </a:r>
            <a:endParaRPr lang="en-US" sz="3200" dirty="0"/>
          </a:p>
        </p:txBody>
      </p:sp>
      <p:sp>
        <p:nvSpPr>
          <p:cNvPr id="3" name="Shape 1"/>
          <p:cNvSpPr/>
          <p:nvPr/>
        </p:nvSpPr>
        <p:spPr>
          <a:xfrm>
            <a:off x="548640" y="1371600"/>
            <a:ext cx="3566160" cy="3657600"/>
          </a:xfrm>
          <a:prstGeom prst="roundRect">
            <a:avLst>
              <a:gd name="adj" fmla="val 3077"/>
            </a:avLst>
          </a:prstGeom>
          <a:solidFill>
            <a:srgbClr val="FDF7FE"/>
          </a:solidFill>
          <a:ln w="15875">
            <a:solidFill>
              <a:srgbClr val="DB8FFA"/>
            </a:solidFill>
            <a:prstDash val="solid"/>
          </a:ln>
        </p:spPr>
      </p:sp>
      <p:sp>
        <p:nvSpPr>
          <p:cNvPr id="4" name="Text 2"/>
          <p:cNvSpPr txBox="1"/>
          <p:nvPr/>
        </p:nvSpPr>
        <p:spPr>
          <a:xfrm>
            <a:off x="786384" y="1581912"/>
            <a:ext cx="3090672" cy="402336"/>
          </a:xfrm>
          <a:prstGeom prst="rect">
            <a:avLst/>
          </a:prstGeom>
          <a:noFill/>
          <a:ln/>
        </p:spPr>
        <p:txBody>
          <a:bodyPr wrap="square" lIns="0" tIns="0" rIns="0" bIns="0" rtlCol="0" anchor="t"/>
          <a:lstStyle/>
          <a:p>
            <a:pPr indent="0" marL="0">
              <a:buNone/>
            </a:pPr>
            <a:r>
              <a:rPr lang="en-US" sz="1700" b="1" dirty="0">
                <a:solidFill>
                  <a:srgbClr val="B20BF4"/>
                </a:solidFill>
              </a:rPr>
              <a:t>Adopter</a:t>
            </a:r>
            <a:endParaRPr lang="en-US" sz="1700" dirty="0"/>
          </a:p>
        </p:txBody>
      </p:sp>
      <p:sp>
        <p:nvSpPr>
          <p:cNvPr id="5" name="Text 3"/>
          <p:cNvSpPr txBox="1"/>
          <p:nvPr/>
        </p:nvSpPr>
        <p:spPr>
          <a:xfrm>
            <a:off x="786384" y="2011680"/>
            <a:ext cx="3090672" cy="277977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3D3645"/>
                </a:solidFill>
              </a:rPr>
              <a:t>Browse and filter the public catalogue</a:t>
            </a:r>
            <a:endParaRPr lang="en-US" sz="1200" dirty="0"/>
          </a:p>
          <a:p>
            <a:pPr marL="342900" indent="-342900">
              <a:spcAft>
                <a:spcPts val="500"/>
              </a:spcAft>
              <a:buSzPct val="100000"/>
              <a:buChar char="•"/>
            </a:pPr>
            <a:r>
              <a:rPr lang="en-US" sz="1200" dirty="0">
                <a:solidFill>
                  <a:srgbClr val="3D3645"/>
                </a:solidFill>
              </a:rPr>
              <a:t>Matching quiz → trait-scored recommendations</a:t>
            </a:r>
            <a:endParaRPr lang="en-US" sz="1200" dirty="0"/>
          </a:p>
          <a:p>
            <a:pPr marL="342900" indent="-342900">
              <a:spcAft>
                <a:spcPts val="500"/>
              </a:spcAft>
              <a:buSzPct val="100000"/>
              <a:buChar char="•"/>
            </a:pPr>
            <a:r>
              <a:rPr lang="en-US" sz="1200" dirty="0">
                <a:solidFill>
                  <a:srgbClr val="3D3645"/>
                </a:solidFill>
              </a:rPr>
              <a:t>Eligibility quiz, then apply; withdraw while pending</a:t>
            </a:r>
            <a:endParaRPr lang="en-US" sz="1200" dirty="0"/>
          </a:p>
          <a:p>
            <a:pPr marL="342900" indent="-342900">
              <a:spcAft>
                <a:spcPts val="500"/>
              </a:spcAft>
              <a:buSzPct val="100000"/>
              <a:buChar char="•"/>
            </a:pPr>
            <a:r>
              <a:rPr lang="en-US" sz="1200" dirty="0">
                <a:solidFill>
                  <a:srgbClr val="3D3645"/>
                </a:solidFill>
              </a:rPr>
              <a:t>Own pets: edit, add photos, keep vaccinations</a:t>
            </a:r>
            <a:endParaRPr lang="en-US" sz="1200" dirty="0"/>
          </a:p>
          <a:p>
            <a:pPr marL="342900" indent="-342900">
              <a:spcAft>
                <a:spcPts val="500"/>
              </a:spcAft>
              <a:buSzPct val="100000"/>
              <a:buChar char="•"/>
            </a:pPr>
            <a:r>
              <a:rPr lang="en-US" sz="1200" dirty="0">
                <a:solidFill>
                  <a:srgbClr val="3D3645"/>
                </a:solidFill>
              </a:rPr>
              <a:t>Request boarding; follow the stay’s timeline</a:t>
            </a:r>
            <a:endParaRPr lang="en-US" sz="1200" dirty="0"/>
          </a:p>
          <a:p>
            <a:pPr marL="342900" indent="-342900">
              <a:spcAft>
                <a:spcPts val="500"/>
              </a:spcAft>
              <a:buSzPct val="100000"/>
              <a:buChar char="•"/>
            </a:pPr>
            <a:r>
              <a:rPr lang="en-US" sz="1200" dirty="0">
                <a:solidFill>
                  <a:srgbClr val="3D3645"/>
                </a:solidFill>
              </a:rPr>
              <a:t>Daycare subscription; see the pet is on site now</a:t>
            </a:r>
            <a:endParaRPr lang="en-US" sz="1200" dirty="0"/>
          </a:p>
          <a:p>
            <a:pPr marL="342900" indent="-342900">
              <a:spcAft>
                <a:spcPts val="500"/>
              </a:spcAft>
              <a:buSzPct val="100000"/>
              <a:buChar char="•"/>
            </a:pPr>
            <a:r>
              <a:rPr lang="en-US" sz="1200" dirty="0">
                <a:solidFill>
                  <a:srgbClr val="3D3645"/>
                </a:solidFill>
              </a:rPr>
              <a:t>Read their own billing slips</a:t>
            </a:r>
            <a:endParaRPr lang="en-US" sz="1200" dirty="0"/>
          </a:p>
        </p:txBody>
      </p:sp>
      <p:sp>
        <p:nvSpPr>
          <p:cNvPr id="6" name="Shape 4"/>
          <p:cNvSpPr/>
          <p:nvPr/>
        </p:nvSpPr>
        <p:spPr>
          <a:xfrm>
            <a:off x="4297680" y="1371600"/>
            <a:ext cx="3566160" cy="3657600"/>
          </a:xfrm>
          <a:prstGeom prst="roundRect">
            <a:avLst>
              <a:gd name="adj" fmla="val 3077"/>
            </a:avLst>
          </a:prstGeom>
          <a:solidFill>
            <a:srgbClr val="FDF7FE"/>
          </a:solidFill>
          <a:ln w="15875">
            <a:solidFill>
              <a:srgbClr val="DB8FFA"/>
            </a:solidFill>
            <a:prstDash val="solid"/>
          </a:ln>
        </p:spPr>
      </p:sp>
      <p:sp>
        <p:nvSpPr>
          <p:cNvPr id="7" name="Text 5"/>
          <p:cNvSpPr txBox="1"/>
          <p:nvPr/>
        </p:nvSpPr>
        <p:spPr>
          <a:xfrm>
            <a:off x="4535424" y="1581912"/>
            <a:ext cx="3090672" cy="402336"/>
          </a:xfrm>
          <a:prstGeom prst="rect">
            <a:avLst/>
          </a:prstGeom>
          <a:noFill/>
          <a:ln/>
        </p:spPr>
        <p:txBody>
          <a:bodyPr wrap="square" lIns="0" tIns="0" rIns="0" bIns="0" rtlCol="0" anchor="t"/>
          <a:lstStyle/>
          <a:p>
            <a:pPr indent="0" marL="0">
              <a:buNone/>
            </a:pPr>
            <a:r>
              <a:rPr lang="en-US" sz="1700" b="1" dirty="0">
                <a:solidFill>
                  <a:srgbClr val="B20BF4"/>
                </a:solidFill>
              </a:rPr>
              <a:t>Staff — one shelter</a:t>
            </a:r>
            <a:endParaRPr lang="en-US" sz="1700" dirty="0"/>
          </a:p>
        </p:txBody>
      </p:sp>
      <p:sp>
        <p:nvSpPr>
          <p:cNvPr id="8" name="Text 6"/>
          <p:cNvSpPr txBox="1"/>
          <p:nvPr/>
        </p:nvSpPr>
        <p:spPr>
          <a:xfrm>
            <a:off x="4535424" y="2011680"/>
            <a:ext cx="3090672" cy="277977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3D3645"/>
                </a:solidFill>
              </a:rPr>
              <a:t>Rooms with species limits and live occupancy</a:t>
            </a:r>
            <a:endParaRPr lang="en-US" sz="1200" dirty="0"/>
          </a:p>
          <a:p>
            <a:pPr marL="342900" indent="-342900">
              <a:spcAft>
                <a:spcPts val="500"/>
              </a:spcAft>
              <a:buSzPct val="100000"/>
              <a:buChar char="•"/>
            </a:pPr>
            <a:r>
              <a:rPr lang="en-US" sz="1200" dirty="0">
                <a:solidFill>
                  <a:srgbClr val="3D3645"/>
                </a:solidFill>
              </a:rPr>
              <a:t>Register pets, photos, traits, cover photo</a:t>
            </a:r>
            <a:endParaRPr lang="en-US" sz="1200" dirty="0"/>
          </a:p>
          <a:p>
            <a:pPr marL="342900" indent="-342900">
              <a:spcAft>
                <a:spcPts val="500"/>
              </a:spcAft>
              <a:buSzPct val="100000"/>
              <a:buChar char="•"/>
            </a:pPr>
            <a:r>
              <a:rPr lang="en-US" sz="1200" dirty="0">
                <a:solidFill>
                  <a:srgbClr val="3D3645"/>
                </a:solidFill>
              </a:rPr>
              <a:t>Review applications; approve closes all rivals</a:t>
            </a:r>
            <a:endParaRPr lang="en-US" sz="1200" dirty="0"/>
          </a:p>
          <a:p>
            <a:pPr marL="342900" indent="-342900">
              <a:spcAft>
                <a:spcPts val="500"/>
              </a:spcAft>
              <a:buSzPct val="100000"/>
              <a:buChar char="•"/>
            </a:pPr>
            <a:r>
              <a:rPr lang="en-US" sz="1200" dirty="0">
                <a:solidFill>
                  <a:srgbClr val="3D3645"/>
                </a:solidFill>
              </a:rPr>
              <a:t>Accept boarding — five capacity checks</a:t>
            </a:r>
            <a:endParaRPr lang="en-US" sz="1200" dirty="0"/>
          </a:p>
          <a:p>
            <a:pPr marL="342900" indent="-342900">
              <a:spcAft>
                <a:spcPts val="500"/>
              </a:spcAft>
              <a:buSzPct val="100000"/>
              <a:buChar char="•"/>
            </a:pPr>
            <a:r>
              <a:rPr lang="en-US" sz="1200" dirty="0">
                <a:solidFill>
                  <a:srgbClr val="3D3645"/>
                </a:solidFill>
              </a:rPr>
              <a:t>Assign and change rooms mid-stay</a:t>
            </a:r>
            <a:endParaRPr lang="en-US" sz="1200" dirty="0"/>
          </a:p>
          <a:p>
            <a:pPr marL="342900" indent="-342900">
              <a:spcAft>
                <a:spcPts val="500"/>
              </a:spcAft>
              <a:buSzPct val="100000"/>
              <a:buChar char="•"/>
            </a:pPr>
            <a:r>
              <a:rPr lang="en-US" sz="1200" dirty="0">
                <a:solidFill>
                  <a:srgbClr val="3D3645"/>
                </a:solidFill>
              </a:rPr>
              <a:t>Check in / out; charges added during the stay</a:t>
            </a:r>
            <a:endParaRPr lang="en-US" sz="1200" dirty="0"/>
          </a:p>
          <a:p>
            <a:pPr marL="342900" indent="-342900">
              <a:spcAft>
                <a:spcPts val="500"/>
              </a:spcAft>
              <a:buSzPct val="100000"/>
              <a:buChar char="•"/>
            </a:pPr>
            <a:r>
              <a:rPr lang="en-US" sz="1200" dirty="0">
                <a:solidFill>
                  <a:srgbClr val="3D3645"/>
                </a:solidFill>
              </a:rPr>
              <a:t>Care tasks, care log, vaccinations</a:t>
            </a:r>
            <a:endParaRPr lang="en-US" sz="1200" dirty="0"/>
          </a:p>
          <a:p>
            <a:pPr marL="342900" indent="-342900">
              <a:spcAft>
                <a:spcPts val="500"/>
              </a:spcAft>
              <a:buSzPct val="100000"/>
              <a:buChar char="•"/>
            </a:pPr>
            <a:r>
              <a:rPr lang="en-US" sz="1200" dirty="0">
                <a:solidFill>
                  <a:srgbClr val="3D3645"/>
                </a:solidFill>
              </a:rPr>
              <a:t>Daycare arrivals board and attendance history</a:t>
            </a:r>
            <a:endParaRPr lang="en-US" sz="1200" dirty="0"/>
          </a:p>
        </p:txBody>
      </p:sp>
      <p:sp>
        <p:nvSpPr>
          <p:cNvPr id="9" name="Shape 7"/>
          <p:cNvSpPr/>
          <p:nvPr/>
        </p:nvSpPr>
        <p:spPr>
          <a:xfrm>
            <a:off x="8046720" y="1371600"/>
            <a:ext cx="3566160" cy="3657600"/>
          </a:xfrm>
          <a:prstGeom prst="roundRect">
            <a:avLst>
              <a:gd name="adj" fmla="val 3077"/>
            </a:avLst>
          </a:prstGeom>
          <a:solidFill>
            <a:srgbClr val="FDF7FE"/>
          </a:solidFill>
          <a:ln w="15875">
            <a:solidFill>
              <a:srgbClr val="DB8FFA"/>
            </a:solidFill>
            <a:prstDash val="solid"/>
          </a:ln>
        </p:spPr>
      </p:sp>
      <p:sp>
        <p:nvSpPr>
          <p:cNvPr id="10" name="Text 8"/>
          <p:cNvSpPr txBox="1"/>
          <p:nvPr/>
        </p:nvSpPr>
        <p:spPr>
          <a:xfrm>
            <a:off x="8284464" y="1581912"/>
            <a:ext cx="3090672" cy="402336"/>
          </a:xfrm>
          <a:prstGeom prst="rect">
            <a:avLst/>
          </a:prstGeom>
          <a:noFill/>
          <a:ln/>
        </p:spPr>
        <p:txBody>
          <a:bodyPr wrap="square" lIns="0" tIns="0" rIns="0" bIns="0" rtlCol="0" anchor="t"/>
          <a:lstStyle/>
          <a:p>
            <a:pPr indent="0" marL="0">
              <a:buNone/>
            </a:pPr>
            <a:r>
              <a:rPr lang="en-US" sz="1700" b="1" dirty="0">
                <a:solidFill>
                  <a:srgbClr val="B20BF4"/>
                </a:solidFill>
              </a:rPr>
              <a:t>Administrator</a:t>
            </a:r>
            <a:endParaRPr lang="en-US" sz="1700" dirty="0"/>
          </a:p>
        </p:txBody>
      </p:sp>
      <p:sp>
        <p:nvSpPr>
          <p:cNvPr id="11" name="Text 9"/>
          <p:cNvSpPr txBox="1"/>
          <p:nvPr/>
        </p:nvSpPr>
        <p:spPr>
          <a:xfrm>
            <a:off x="8284464" y="2011680"/>
            <a:ext cx="3090672" cy="277977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3D3645"/>
                </a:solidFill>
              </a:rPr>
              <a:t>Shelters, and any shelter’s rooms</a:t>
            </a:r>
            <a:endParaRPr lang="en-US" sz="1200" dirty="0"/>
          </a:p>
          <a:p>
            <a:pPr marL="342900" indent="-342900">
              <a:spcAft>
                <a:spcPts val="500"/>
              </a:spcAft>
              <a:buSzPct val="100000"/>
              <a:buChar char="•"/>
            </a:pPr>
            <a:r>
              <a:rPr lang="en-US" sz="1200" dirty="0">
                <a:solidFill>
                  <a:srgbClr val="3D3645"/>
                </a:solidFill>
              </a:rPr>
              <a:t>Users: approve, invite, activate, reassign</a:t>
            </a:r>
            <a:endParaRPr lang="en-US" sz="1200" dirty="0"/>
          </a:p>
          <a:p>
            <a:pPr marL="342900" indent="-342900">
              <a:spcAft>
                <a:spcPts val="500"/>
              </a:spcAft>
              <a:buSzPct val="100000"/>
              <a:buChar char="•"/>
            </a:pPr>
            <a:r>
              <a:rPr lang="en-US" sz="1200" dirty="0">
                <a:solidFill>
                  <a:srgbClr val="3D3645"/>
                </a:solidFill>
              </a:rPr>
              <a:t>Quiz bank: questions, options, trait weights</a:t>
            </a:r>
            <a:endParaRPr lang="en-US" sz="1200" dirty="0"/>
          </a:p>
          <a:p>
            <a:pPr marL="342900" indent="-342900">
              <a:spcAft>
                <a:spcPts val="500"/>
              </a:spcAft>
              <a:buSzPct val="100000"/>
              <a:buChar char="•"/>
            </a:pPr>
            <a:r>
              <a:rPr lang="en-US" sz="1200" dirty="0">
                <a:solidFill>
                  <a:srgbClr val="3D3645"/>
                </a:solidFill>
              </a:rPr>
              <a:t>Analytics — revenue, nights, subscriptions</a:t>
            </a:r>
            <a:endParaRPr lang="en-US" sz="1200" dirty="0"/>
          </a:p>
          <a:p>
            <a:pPr marL="342900" indent="-342900">
              <a:spcAft>
                <a:spcPts val="500"/>
              </a:spcAft>
              <a:buSzPct val="100000"/>
              <a:buChar char="•"/>
            </a:pPr>
            <a:r>
              <a:rPr lang="en-US" sz="1200" dirty="0">
                <a:solidFill>
                  <a:srgbClr val="3D3645"/>
                </a:solidFill>
              </a:rPr>
              <a:t>Recent activity from the audit log</a:t>
            </a:r>
            <a:endParaRPr lang="en-US" sz="1200" dirty="0"/>
          </a:p>
          <a:p>
            <a:pPr marL="342900" indent="-342900">
              <a:spcAft>
                <a:spcPts val="500"/>
              </a:spcAft>
              <a:buSzPct val="100000"/>
              <a:buChar char="•"/>
            </a:pPr>
            <a:r>
              <a:rPr lang="en-US" sz="1200" dirty="0">
                <a:solidFill>
                  <a:srgbClr val="3D3645"/>
                </a:solidFill>
              </a:rPr>
              <a:t>Network-wide billing and reports</a:t>
            </a:r>
            <a:endParaRPr lang="en-US" sz="1200" dirty="0"/>
          </a:p>
        </p:txBody>
      </p:sp>
      <p:sp>
        <p:nvSpPr>
          <p:cNvPr id="12" name="Text 10"/>
          <p:cNvSpPr txBox="1"/>
          <p:nvPr/>
        </p:nvSpPr>
        <p:spPr>
          <a:xfrm>
            <a:off x="548640" y="5230368"/>
            <a:ext cx="11064240" cy="310896"/>
          </a:xfrm>
          <a:prstGeom prst="rect">
            <a:avLst/>
          </a:prstGeom>
          <a:noFill/>
          <a:ln/>
        </p:spPr>
        <p:txBody>
          <a:bodyPr wrap="square" lIns="0" tIns="0" rIns="0" bIns="0" rtlCol="0" anchor="ctr"/>
          <a:lstStyle/>
          <a:p>
            <a:pPr indent="0" marL="0">
              <a:buNone/>
            </a:pPr>
            <a:r>
              <a:rPr lang="en-US" sz="1250" i="1" dirty="0">
                <a:solidFill>
                  <a:srgbClr val="9908D2"/>
                </a:solidFill>
              </a:rPr>
              <a:t>Three scheduled jobs run with nobody watching: monthly daycare billing, vaccination reminders, care-task announcements.</a:t>
            </a:r>
            <a:endParaRPr lang="en-US" sz="12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Database design approach</a:t>
            </a:r>
            <a:endParaRPr lang="en-US" sz="3200" dirty="0"/>
          </a:p>
        </p:txBody>
      </p:sp>
      <p:sp>
        <p:nvSpPr>
          <p:cNvPr id="3" name="Text 1"/>
          <p:cNvSpPr txBox="1"/>
          <p:nvPr/>
        </p:nvSpPr>
        <p:spPr>
          <a:xfrm>
            <a:off x="548640" y="1316736"/>
            <a:ext cx="11064240" cy="658368"/>
          </a:xfrm>
          <a:prstGeom prst="rect">
            <a:avLst/>
          </a:prstGeom>
          <a:noFill/>
          <a:ln/>
        </p:spPr>
        <p:txBody>
          <a:bodyPr wrap="square" lIns="0" tIns="0" rIns="0" bIns="0" rtlCol="0" anchor="ctr"/>
          <a:lstStyle/>
          <a:p>
            <a:pPr indent="0" marL="0">
              <a:lnSpc>
                <a:spcPct val="115000"/>
              </a:lnSpc>
              <a:buNone/>
            </a:pPr>
            <a:r>
              <a:rPr lang="en-US" sz="1600" dirty="0">
                <a:solidFill>
                  <a:srgbClr val="1A1420"/>
                </a:solidFill>
              </a:rPr>
              <a:t>Put every rule the database can enforce into the database, and accept the cost. A rule in a Java service can be broken by a second service, a script, or a late-night manual UPDATE. A constraint cannot.</a:t>
            </a:r>
            <a:endParaRPr lang="en-US" sz="1600" dirty="0"/>
          </a:p>
        </p:txBody>
      </p:sp>
      <p:sp>
        <p:nvSpPr>
          <p:cNvPr id="4" name="Shape 2"/>
          <p:cNvSpPr/>
          <p:nvPr/>
        </p:nvSpPr>
        <p:spPr>
          <a:xfrm>
            <a:off x="548640" y="2139696"/>
            <a:ext cx="3566160" cy="2926080"/>
          </a:xfrm>
          <a:prstGeom prst="roundRect">
            <a:avLst>
              <a:gd name="adj" fmla="val 3750"/>
            </a:avLst>
          </a:prstGeom>
          <a:solidFill>
            <a:srgbClr val="FFFFFF"/>
          </a:solidFill>
          <a:ln w="15875">
            <a:solidFill>
              <a:srgbClr val="DB8FFA"/>
            </a:solidFill>
            <a:prstDash val="solid"/>
          </a:ln>
        </p:spPr>
      </p:sp>
      <p:sp>
        <p:nvSpPr>
          <p:cNvPr id="5" name="Text 3"/>
          <p:cNvSpPr txBox="1"/>
          <p:nvPr/>
        </p:nvSpPr>
        <p:spPr>
          <a:xfrm>
            <a:off x="786384" y="2350008"/>
            <a:ext cx="3090672" cy="402336"/>
          </a:xfrm>
          <a:prstGeom prst="rect">
            <a:avLst/>
          </a:prstGeom>
          <a:noFill/>
          <a:ln/>
        </p:spPr>
        <p:txBody>
          <a:bodyPr wrap="square" lIns="0" tIns="0" rIns="0" bIns="0" rtlCol="0" anchor="t"/>
          <a:lstStyle/>
          <a:p>
            <a:pPr indent="0" marL="0">
              <a:buNone/>
            </a:pPr>
            <a:r>
              <a:rPr lang="en-US" sz="1700" b="1" dirty="0">
                <a:solidFill>
                  <a:srgbClr val="9908D2"/>
                </a:solidFill>
              </a:rPr>
              <a:t>3NF, with two departures</a:t>
            </a:r>
            <a:endParaRPr lang="en-US" sz="1700" dirty="0"/>
          </a:p>
        </p:txBody>
      </p:sp>
      <p:sp>
        <p:nvSpPr>
          <p:cNvPr id="6" name="Text 4"/>
          <p:cNvSpPr txBox="1"/>
          <p:nvPr/>
        </p:nvSpPr>
        <p:spPr>
          <a:xfrm>
            <a:off x="786384" y="2798064"/>
            <a:ext cx="3090672" cy="2029968"/>
          </a:xfrm>
          <a:prstGeom prst="rect">
            <a:avLst/>
          </a:prstGeom>
          <a:noFill/>
          <a:ln/>
        </p:spPr>
        <p:txBody>
          <a:bodyPr wrap="square" lIns="0" tIns="0" rIns="0" bIns="0" rtlCol="0" anchor="t"/>
          <a:lstStyle/>
          <a:p>
            <a:pPr indent="0" marL="0">
              <a:lnSpc>
                <a:spcPct val="112000"/>
              </a:lnSpc>
              <a:buNone/>
            </a:pPr>
            <a:r>
              <a:rPr lang="en-US" sz="1250" dirty="0">
                <a:solidFill>
                  <a:srgbClr val="3D3645"/>
                </a:solidFill>
              </a:rPr>
              <a:t>Surrogate keys, natural keys as UNIQUE, junction tables for many-to-many. Prices are copied on purpose — a shelter raising its rate must not reprice a booked stay or reissue an old bill differently. Four generated columns, two of them only so a partial unique index is possible.</a:t>
            </a:r>
            <a:endParaRPr lang="en-US" sz="1250" dirty="0"/>
          </a:p>
        </p:txBody>
      </p:sp>
      <p:sp>
        <p:nvSpPr>
          <p:cNvPr id="7" name="Shape 5"/>
          <p:cNvSpPr/>
          <p:nvPr/>
        </p:nvSpPr>
        <p:spPr>
          <a:xfrm>
            <a:off x="4297680" y="2139696"/>
            <a:ext cx="3566160" cy="2926080"/>
          </a:xfrm>
          <a:prstGeom prst="roundRect">
            <a:avLst>
              <a:gd name="adj" fmla="val 3750"/>
            </a:avLst>
          </a:prstGeom>
          <a:solidFill>
            <a:srgbClr val="FFFFFF"/>
          </a:solidFill>
          <a:ln w="15875">
            <a:solidFill>
              <a:srgbClr val="DB8FFA"/>
            </a:solidFill>
            <a:prstDash val="solid"/>
          </a:ln>
        </p:spPr>
      </p:sp>
      <p:sp>
        <p:nvSpPr>
          <p:cNvPr id="8" name="Text 6"/>
          <p:cNvSpPr txBox="1"/>
          <p:nvPr/>
        </p:nvSpPr>
        <p:spPr>
          <a:xfrm>
            <a:off x="4535424" y="2350008"/>
            <a:ext cx="3090672" cy="402336"/>
          </a:xfrm>
          <a:prstGeom prst="rect">
            <a:avLst/>
          </a:prstGeom>
          <a:noFill/>
          <a:ln/>
        </p:spPr>
        <p:txBody>
          <a:bodyPr wrap="square" lIns="0" tIns="0" rIns="0" bIns="0" rtlCol="0" anchor="t"/>
          <a:lstStyle/>
          <a:p>
            <a:pPr indent="0" marL="0">
              <a:buNone/>
            </a:pPr>
            <a:r>
              <a:rPr lang="en-US" sz="1700" b="1" dirty="0">
                <a:solidFill>
                  <a:srgbClr val="9908D2"/>
                </a:solidFill>
              </a:rPr>
              <a:t>Where a CHECK stops</a:t>
            </a:r>
            <a:endParaRPr lang="en-US" sz="1700" dirty="0"/>
          </a:p>
        </p:txBody>
      </p:sp>
      <p:sp>
        <p:nvSpPr>
          <p:cNvPr id="9" name="Text 7"/>
          <p:cNvSpPr txBox="1"/>
          <p:nvPr/>
        </p:nvSpPr>
        <p:spPr>
          <a:xfrm>
            <a:off x="4535424" y="2798064"/>
            <a:ext cx="3090672" cy="2029968"/>
          </a:xfrm>
          <a:prstGeom prst="rect">
            <a:avLst/>
          </a:prstGeom>
          <a:noFill/>
          <a:ln/>
        </p:spPr>
        <p:txBody>
          <a:bodyPr wrap="square" lIns="0" tIns="0" rIns="0" bIns="0" rtlCol="0" anchor="t"/>
          <a:lstStyle/>
          <a:p>
            <a:pPr indent="0" marL="0">
              <a:lnSpc>
                <a:spcPct val="112000"/>
              </a:lnSpc>
              <a:buNone/>
            </a:pPr>
            <a:r>
              <a:rPr lang="en-US" sz="1250" dirty="0">
                <a:solidFill>
                  <a:srgbClr val="3D3645"/>
                </a:solidFill>
              </a:rPr>
              <a:t>39 CHECKs carry every rule that fits in one row: a stay ends after it starts, a quantity is positive, staff have a shelter and others do not. A CHECK sees one row — so “this room is not full” cannot be one, and becomes a transaction holding a lock.</a:t>
            </a:r>
            <a:endParaRPr lang="en-US" sz="1250" dirty="0"/>
          </a:p>
        </p:txBody>
      </p:sp>
      <p:sp>
        <p:nvSpPr>
          <p:cNvPr id="10" name="Shape 8"/>
          <p:cNvSpPr/>
          <p:nvPr/>
        </p:nvSpPr>
        <p:spPr>
          <a:xfrm>
            <a:off x="8046720" y="2139696"/>
            <a:ext cx="3566160" cy="2926080"/>
          </a:xfrm>
          <a:prstGeom prst="roundRect">
            <a:avLst>
              <a:gd name="adj" fmla="val 3750"/>
            </a:avLst>
          </a:prstGeom>
          <a:solidFill>
            <a:srgbClr val="FFFFFF"/>
          </a:solidFill>
          <a:ln w="15875">
            <a:solidFill>
              <a:srgbClr val="DB8FFA"/>
            </a:solidFill>
            <a:prstDash val="solid"/>
          </a:ln>
        </p:spPr>
      </p:sp>
      <p:sp>
        <p:nvSpPr>
          <p:cNvPr id="11" name="Text 9"/>
          <p:cNvSpPr txBox="1"/>
          <p:nvPr/>
        </p:nvSpPr>
        <p:spPr>
          <a:xfrm>
            <a:off x="8284464" y="2350008"/>
            <a:ext cx="3090672" cy="402336"/>
          </a:xfrm>
          <a:prstGeom prst="rect">
            <a:avLst/>
          </a:prstGeom>
          <a:noFill/>
          <a:ln/>
        </p:spPr>
        <p:txBody>
          <a:bodyPr wrap="square" lIns="0" tIns="0" rIns="0" bIns="0" rtlCol="0" anchor="t"/>
          <a:lstStyle/>
          <a:p>
            <a:pPr indent="0" marL="0">
              <a:buNone/>
            </a:pPr>
            <a:r>
              <a:rPr lang="en-US" sz="1700" b="1" dirty="0">
                <a:solidFill>
                  <a:srgbClr val="9908D2"/>
                </a:solidFill>
              </a:rPr>
              <a:t>Flyway owns the schema</a:t>
            </a:r>
            <a:endParaRPr lang="en-US" sz="1700" dirty="0"/>
          </a:p>
        </p:txBody>
      </p:sp>
      <p:sp>
        <p:nvSpPr>
          <p:cNvPr id="12" name="Text 10"/>
          <p:cNvSpPr txBox="1"/>
          <p:nvPr/>
        </p:nvSpPr>
        <p:spPr>
          <a:xfrm>
            <a:off x="8284464" y="2798064"/>
            <a:ext cx="3090672" cy="2029968"/>
          </a:xfrm>
          <a:prstGeom prst="rect">
            <a:avLst/>
          </a:prstGeom>
          <a:noFill/>
          <a:ln/>
        </p:spPr>
        <p:txBody>
          <a:bodyPr wrap="square" lIns="0" tIns="0" rIns="0" bIns="0" rtlCol="0" anchor="t"/>
          <a:lstStyle/>
          <a:p>
            <a:pPr indent="0" marL="0">
              <a:lnSpc>
                <a:spcPct val="112000"/>
              </a:lnSpc>
              <a:buNone/>
            </a:pPr>
            <a:r>
              <a:rPr lang="en-US" sz="1250" dirty="0">
                <a:solidFill>
                  <a:srgbClr val="3D3645"/>
                </a:solidFill>
              </a:rPr>
              <a:t>19 migrations run in order on every boot; Hibernate runs ddl-auto: validate and refuses to start if the entities disagree. A migration that has run is never edited. ENUM values are only ever appended — MySQL stores the index, not the text.</a:t>
            </a:r>
            <a:endParaRPr lang="en-US" sz="12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The ERD</a:t>
            </a:r>
            <a:endParaRPr lang="en-US" sz="3200" dirty="0"/>
          </a:p>
        </p:txBody>
      </p:sp>
      <p:pic>
        <p:nvPicPr>
          <p:cNvPr id="3" name="Image 0" descr="/home/claude/fig_erd.png">    </p:cNvPr>
          <p:cNvPicPr>
            <a:picLocks noChangeAspect="1"/>
          </p:cNvPicPr>
          <p:nvPr/>
        </p:nvPicPr>
        <p:blipFill>
          <a:blip r:embed="rId1"/>
          <a:stretch>
            <a:fillRect/>
          </a:stretch>
        </p:blipFill>
        <p:spPr>
          <a:xfrm>
            <a:off x="6144768" y="1225296"/>
            <a:ext cx="4526280" cy="4562856"/>
          </a:xfrm>
          <a:prstGeom prst="rect">
            <a:avLst/>
          </a:prstGeom>
        </p:spPr>
      </p:pic>
      <p:sp>
        <p:nvSpPr>
          <p:cNvPr id="4" name="Text 1"/>
          <p:cNvSpPr txBox="1"/>
          <p:nvPr/>
        </p:nvSpPr>
        <p:spPr>
          <a:xfrm>
            <a:off x="548640" y="1280160"/>
            <a:ext cx="5029200" cy="1371600"/>
          </a:xfrm>
          <a:prstGeom prst="rect">
            <a:avLst/>
          </a:prstGeom>
          <a:noFill/>
          <a:ln/>
        </p:spPr>
        <p:txBody>
          <a:bodyPr wrap="square" lIns="0" tIns="0" rIns="0" bIns="0" rtlCol="0" anchor="ctr"/>
          <a:lstStyle/>
          <a:p>
            <a:pPr indent="0" marL="0">
              <a:lnSpc>
                <a:spcPct val="112000"/>
              </a:lnSpc>
              <a:buNone/>
            </a:pPr>
            <a:r>
              <a:rPr lang="en-US" sz="1400" dirty="0">
                <a:solidFill>
                  <a:srgbClr val="3D3645"/>
                </a:solidFill>
              </a:rPr>
              <a:t>32 entities, 69 foreign keys, grouped by subject area. Generated straight from information_schema, so nothing in it was transcribed by hand and it cannot drift from the schema the application actually runs on.</a:t>
            </a:r>
            <a:endParaRPr lang="en-US" sz="1400" dirty="0"/>
          </a:p>
        </p:txBody>
      </p:sp>
      <p:sp>
        <p:nvSpPr>
          <p:cNvPr id="5" name="Text 2"/>
          <p:cNvSpPr txBox="1"/>
          <p:nvPr/>
        </p:nvSpPr>
        <p:spPr>
          <a:xfrm>
            <a:off x="548640" y="2670048"/>
            <a:ext cx="5029200" cy="731520"/>
          </a:xfrm>
          <a:prstGeom prst="rect">
            <a:avLst/>
          </a:prstGeom>
          <a:noFill/>
          <a:ln/>
        </p:spPr>
        <p:txBody>
          <a:bodyPr wrap="square" lIns="0" tIns="0" rIns="0" bIns="0" rtlCol="0" anchor="ctr"/>
          <a:lstStyle/>
          <a:p>
            <a:pPr indent="0" marL="0">
              <a:lnSpc>
                <a:spcPct val="112000"/>
              </a:lnSpc>
              <a:buNone/>
            </a:pPr>
            <a:r>
              <a:rPr lang="en-US" sz="1400" dirty="0">
                <a:solidFill>
                  <a:srgbClr val="3D3645"/>
                </a:solidFill>
              </a:rPr>
              <a:t>Line colour is the ON DELETE rule, not the relationship — that rule is where the design decisions live.</a:t>
            </a:r>
            <a:endParaRPr lang="en-US" sz="1400" dirty="0"/>
          </a:p>
        </p:txBody>
      </p:sp>
      <p:sp>
        <p:nvSpPr>
          <p:cNvPr id="6" name="Shape 3"/>
          <p:cNvSpPr/>
          <p:nvPr/>
        </p:nvSpPr>
        <p:spPr>
          <a:xfrm>
            <a:off x="548640" y="3694176"/>
            <a:ext cx="274320" cy="82296"/>
          </a:xfrm>
          <a:prstGeom prst="rect">
            <a:avLst/>
          </a:prstGeom>
          <a:solidFill>
            <a:srgbClr val="15803D"/>
          </a:solidFill>
          <a:ln w="12700">
            <a:solidFill>
              <a:srgbClr val="15803D"/>
            </a:solidFill>
            <a:prstDash val="solid"/>
          </a:ln>
        </p:spPr>
      </p:sp>
      <p:sp>
        <p:nvSpPr>
          <p:cNvPr id="7" name="Text 4"/>
          <p:cNvSpPr txBox="1"/>
          <p:nvPr/>
        </p:nvSpPr>
        <p:spPr>
          <a:xfrm>
            <a:off x="932688" y="3611880"/>
            <a:ext cx="4572000" cy="237744"/>
          </a:xfrm>
          <a:prstGeom prst="rect">
            <a:avLst/>
          </a:prstGeom>
          <a:noFill/>
          <a:ln/>
        </p:spPr>
        <p:txBody>
          <a:bodyPr wrap="square" lIns="0" tIns="0" rIns="0" bIns="0" rtlCol="0" anchor="ctr"/>
          <a:lstStyle/>
          <a:p>
            <a:pPr indent="0" marL="0">
              <a:buNone/>
            </a:pPr>
            <a:r>
              <a:rPr lang="en-US" sz="1300" b="1" dirty="0">
                <a:solidFill>
                  <a:srgbClr val="15803D"/>
                </a:solidFill>
              </a:rPr>
              <a:t>RESTRICT — 42</a:t>
            </a:r>
            <a:endParaRPr lang="en-US" sz="1300" dirty="0"/>
          </a:p>
        </p:txBody>
      </p:sp>
      <p:sp>
        <p:nvSpPr>
          <p:cNvPr id="8" name="Text 5"/>
          <p:cNvSpPr txBox="1"/>
          <p:nvPr/>
        </p:nvSpPr>
        <p:spPr>
          <a:xfrm>
            <a:off x="932688" y="3840480"/>
            <a:ext cx="4572000" cy="237744"/>
          </a:xfrm>
          <a:prstGeom prst="rect">
            <a:avLst/>
          </a:prstGeom>
          <a:noFill/>
          <a:ln/>
        </p:spPr>
        <p:txBody>
          <a:bodyPr wrap="square" lIns="0" tIns="0" rIns="0" bIns="0" rtlCol="0" anchor="ctr"/>
          <a:lstStyle/>
          <a:p>
            <a:pPr indent="0" marL="0">
              <a:buNone/>
            </a:pPr>
            <a:r>
              <a:rPr lang="en-US" sz="1200" dirty="0">
                <a:solidFill>
                  <a:srgbClr val="3D3645"/>
                </a:solidFill>
              </a:rPr>
              <a:t>a record that must outlive its subject</a:t>
            </a:r>
            <a:endParaRPr lang="en-US" sz="1200" dirty="0"/>
          </a:p>
        </p:txBody>
      </p:sp>
      <p:sp>
        <p:nvSpPr>
          <p:cNvPr id="9" name="Shape 6"/>
          <p:cNvSpPr/>
          <p:nvPr/>
        </p:nvSpPr>
        <p:spPr>
          <a:xfrm>
            <a:off x="548640" y="4261104"/>
            <a:ext cx="274320" cy="82296"/>
          </a:xfrm>
          <a:prstGeom prst="rect">
            <a:avLst/>
          </a:prstGeom>
          <a:solidFill>
            <a:srgbClr val="C41E3F"/>
          </a:solidFill>
          <a:ln w="12700">
            <a:solidFill>
              <a:srgbClr val="C41E3F"/>
            </a:solidFill>
            <a:prstDash val="solid"/>
          </a:ln>
        </p:spPr>
      </p:sp>
      <p:sp>
        <p:nvSpPr>
          <p:cNvPr id="10" name="Text 7"/>
          <p:cNvSpPr txBox="1"/>
          <p:nvPr/>
        </p:nvSpPr>
        <p:spPr>
          <a:xfrm>
            <a:off x="932688" y="4178808"/>
            <a:ext cx="4572000" cy="237744"/>
          </a:xfrm>
          <a:prstGeom prst="rect">
            <a:avLst/>
          </a:prstGeom>
          <a:noFill/>
          <a:ln/>
        </p:spPr>
        <p:txBody>
          <a:bodyPr wrap="square" lIns="0" tIns="0" rIns="0" bIns="0" rtlCol="0" anchor="ctr"/>
          <a:lstStyle/>
          <a:p>
            <a:pPr indent="0" marL="0">
              <a:buNone/>
            </a:pPr>
            <a:r>
              <a:rPr lang="en-US" sz="1300" b="1" dirty="0">
                <a:solidFill>
                  <a:srgbClr val="C41E3F"/>
                </a:solidFill>
              </a:rPr>
              <a:t>CASCADE — 21</a:t>
            </a:r>
            <a:endParaRPr lang="en-US" sz="1300" dirty="0"/>
          </a:p>
        </p:txBody>
      </p:sp>
      <p:sp>
        <p:nvSpPr>
          <p:cNvPr id="11" name="Text 8"/>
          <p:cNvSpPr txBox="1"/>
          <p:nvPr/>
        </p:nvSpPr>
        <p:spPr>
          <a:xfrm>
            <a:off x="932688" y="4407408"/>
            <a:ext cx="4572000" cy="237744"/>
          </a:xfrm>
          <a:prstGeom prst="rect">
            <a:avLst/>
          </a:prstGeom>
          <a:noFill/>
          <a:ln/>
        </p:spPr>
        <p:txBody>
          <a:bodyPr wrap="square" lIns="0" tIns="0" rIns="0" bIns="0" rtlCol="0" anchor="ctr"/>
          <a:lstStyle/>
          <a:p>
            <a:pPr indent="0" marL="0">
              <a:buNone/>
            </a:pPr>
            <a:r>
              <a:rPr lang="en-US" sz="1200" dirty="0">
                <a:solidFill>
                  <a:srgbClr val="3D3645"/>
                </a:solidFill>
              </a:rPr>
              <a:t>part of the parent, goes with it</a:t>
            </a:r>
            <a:endParaRPr lang="en-US" sz="1200" dirty="0"/>
          </a:p>
        </p:txBody>
      </p:sp>
      <p:sp>
        <p:nvSpPr>
          <p:cNvPr id="12" name="Shape 9"/>
          <p:cNvSpPr/>
          <p:nvPr/>
        </p:nvSpPr>
        <p:spPr>
          <a:xfrm>
            <a:off x="548640" y="4828032"/>
            <a:ext cx="274320" cy="82296"/>
          </a:xfrm>
          <a:prstGeom prst="rect">
            <a:avLst/>
          </a:prstGeom>
          <a:solidFill>
            <a:srgbClr val="9908D2"/>
          </a:solidFill>
          <a:ln w="12700">
            <a:solidFill>
              <a:srgbClr val="9908D2"/>
            </a:solidFill>
            <a:prstDash val="solid"/>
          </a:ln>
        </p:spPr>
      </p:sp>
      <p:sp>
        <p:nvSpPr>
          <p:cNvPr id="13" name="Text 10"/>
          <p:cNvSpPr txBox="1"/>
          <p:nvPr/>
        </p:nvSpPr>
        <p:spPr>
          <a:xfrm>
            <a:off x="932688" y="4745736"/>
            <a:ext cx="4572000" cy="237744"/>
          </a:xfrm>
          <a:prstGeom prst="rect">
            <a:avLst/>
          </a:prstGeom>
          <a:noFill/>
          <a:ln/>
        </p:spPr>
        <p:txBody>
          <a:bodyPr wrap="square" lIns="0" tIns="0" rIns="0" bIns="0" rtlCol="0" anchor="ctr"/>
          <a:lstStyle/>
          <a:p>
            <a:pPr indent="0" marL="0">
              <a:buNone/>
            </a:pPr>
            <a:r>
              <a:rPr lang="en-US" sz="1300" b="1" dirty="0">
                <a:solidFill>
                  <a:srgbClr val="9908D2"/>
                </a:solidFill>
              </a:rPr>
              <a:t>SET NULL — 6</a:t>
            </a:r>
            <a:endParaRPr lang="en-US" sz="1300" dirty="0"/>
          </a:p>
        </p:txBody>
      </p:sp>
      <p:sp>
        <p:nvSpPr>
          <p:cNvPr id="14" name="Text 11"/>
          <p:cNvSpPr txBox="1"/>
          <p:nvPr/>
        </p:nvSpPr>
        <p:spPr>
          <a:xfrm>
            <a:off x="932688" y="4974336"/>
            <a:ext cx="4572000" cy="237744"/>
          </a:xfrm>
          <a:prstGeom prst="rect">
            <a:avLst/>
          </a:prstGeom>
          <a:noFill/>
          <a:ln/>
        </p:spPr>
        <p:txBody>
          <a:bodyPr wrap="square" lIns="0" tIns="0" rIns="0" bIns="0" rtlCol="0" anchor="ctr"/>
          <a:lstStyle/>
          <a:p>
            <a:pPr indent="0" marL="0">
              <a:buNone/>
            </a:pPr>
            <a:r>
              <a:rPr lang="en-US" sz="1200" dirty="0">
                <a:solidFill>
                  <a:srgbClr val="3D3645"/>
                </a:solidFill>
              </a:rPr>
              <a:t>the row survives, the link is cut</a:t>
            </a:r>
            <a:endParaRPr lang="en-US" sz="1200" dirty="0"/>
          </a:p>
        </p:txBody>
      </p:sp>
      <p:sp>
        <p:nvSpPr>
          <p:cNvPr id="15" name="Text 12"/>
          <p:cNvSpPr txBox="1"/>
          <p:nvPr/>
        </p:nvSpPr>
        <p:spPr>
          <a:xfrm>
            <a:off x="6144768" y="5833872"/>
            <a:ext cx="4526280" cy="274320"/>
          </a:xfrm>
          <a:prstGeom prst="rect">
            <a:avLst/>
          </a:prstGeom>
          <a:noFill/>
          <a:ln/>
        </p:spPr>
        <p:txBody>
          <a:bodyPr wrap="square" lIns="0" tIns="0" rIns="0" bIns="0" rtlCol="0" anchor="ctr"/>
          <a:lstStyle/>
          <a:p>
            <a:pPr algn="ctr" indent="0" marL="0">
              <a:buNone/>
            </a:pPr>
            <a:r>
              <a:rPr lang="en-US" sz="1100" dirty="0">
                <a:solidFill>
                  <a:srgbClr val="6E6578"/>
                </a:solidFill>
              </a:rPr>
              <a:t>Full-size ERD and physical schema: pawhome-diagrams.drawio</a:t>
            </a:r>
            <a:endParaRPr lang="en-US" sz="110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Every foreign key answers one question</a:t>
            </a:r>
            <a:endParaRPr lang="en-US" sz="3200" dirty="0"/>
          </a:p>
        </p:txBody>
      </p:sp>
      <p:sp>
        <p:nvSpPr>
          <p:cNvPr id="3" name="Text 1"/>
          <p:cNvSpPr txBox="1"/>
          <p:nvPr/>
        </p:nvSpPr>
        <p:spPr>
          <a:xfrm>
            <a:off x="548640" y="1316736"/>
            <a:ext cx="11064240" cy="365760"/>
          </a:xfrm>
          <a:prstGeom prst="rect">
            <a:avLst/>
          </a:prstGeom>
          <a:noFill/>
          <a:ln/>
        </p:spPr>
        <p:txBody>
          <a:bodyPr wrap="square" lIns="0" tIns="0" rIns="0" bIns="0" rtlCol="0" anchor="ctr"/>
          <a:lstStyle/>
          <a:p>
            <a:pPr indent="0" marL="0">
              <a:buNone/>
            </a:pPr>
            <a:r>
              <a:rPr lang="en-US" sz="1600" dirty="0">
                <a:solidFill>
                  <a:srgbClr val="1A1420"/>
                </a:solidFill>
              </a:rPr>
              <a:t>If the parent goes, what happens to this row? The clearest case is pets, which uses both answers.</a:t>
            </a:r>
            <a:endParaRPr lang="en-US" sz="1600" dirty="0"/>
          </a:p>
        </p:txBody>
      </p:sp>
      <p:sp>
        <p:nvSpPr>
          <p:cNvPr id="4" name="Shape 2"/>
          <p:cNvSpPr/>
          <p:nvPr/>
        </p:nvSpPr>
        <p:spPr>
          <a:xfrm>
            <a:off x="548640" y="1847088"/>
            <a:ext cx="5394960" cy="2286000"/>
          </a:xfrm>
          <a:prstGeom prst="roundRect">
            <a:avLst>
              <a:gd name="adj" fmla="val 4800"/>
            </a:avLst>
          </a:prstGeom>
          <a:solidFill>
            <a:srgbClr val="FFFFFF"/>
          </a:solidFill>
          <a:ln w="15875">
            <a:solidFill>
              <a:srgbClr val="C41E3F"/>
            </a:solidFill>
            <a:prstDash val="solid"/>
          </a:ln>
        </p:spPr>
      </p:sp>
      <p:sp>
        <p:nvSpPr>
          <p:cNvPr id="5" name="Text 3"/>
          <p:cNvSpPr txBox="1"/>
          <p:nvPr/>
        </p:nvSpPr>
        <p:spPr>
          <a:xfrm>
            <a:off x="786384" y="2057400"/>
            <a:ext cx="4919472" cy="402336"/>
          </a:xfrm>
          <a:prstGeom prst="rect">
            <a:avLst/>
          </a:prstGeom>
          <a:noFill/>
          <a:ln/>
        </p:spPr>
        <p:txBody>
          <a:bodyPr wrap="square" lIns="0" tIns="0" rIns="0" bIns="0" rtlCol="0" anchor="t"/>
          <a:lstStyle/>
          <a:p>
            <a:pPr indent="0" marL="0">
              <a:buNone/>
            </a:pPr>
            <a:r>
              <a:rPr lang="en-US" sz="1700" b="1" dirty="0">
                <a:solidFill>
                  <a:srgbClr val="C41E3F"/>
                </a:solidFill>
              </a:rPr>
              <a:t>CASCADE — describes the pet</a:t>
            </a:r>
            <a:endParaRPr lang="en-US" sz="1700" dirty="0"/>
          </a:p>
        </p:txBody>
      </p:sp>
      <p:sp>
        <p:nvSpPr>
          <p:cNvPr id="6" name="Text 4"/>
          <p:cNvSpPr txBox="1"/>
          <p:nvPr/>
        </p:nvSpPr>
        <p:spPr>
          <a:xfrm>
            <a:off x="786384" y="2505456"/>
            <a:ext cx="4919472" cy="1389888"/>
          </a:xfrm>
          <a:prstGeom prst="rect">
            <a:avLst/>
          </a:prstGeom>
          <a:noFill/>
          <a:ln/>
        </p:spPr>
        <p:txBody>
          <a:bodyPr wrap="square" lIns="0" tIns="0" rIns="0" bIns="0" rtlCol="0" anchor="t"/>
          <a:lstStyle/>
          <a:p>
            <a:pPr indent="0" marL="0">
              <a:lnSpc>
                <a:spcPct val="112000"/>
              </a:lnSpc>
              <a:buNone/>
            </a:pPr>
            <a:r>
              <a:rPr lang="en-US" sz="1300" dirty="0">
                <a:solidFill>
                  <a:srgbClr val="3D3645"/>
                </a:solidFill>
              </a:rPr>
              <a:t>pet_photos · pet_traits · favorites · vaccinations · care_logs · care_tasks</a:t>
            </a:r>
            <a:endParaRPr lang="en-US" sz="1300" dirty="0"/>
          </a:p>
          <a:p>
            <a:pPr indent="0" marL="0">
              <a:lnSpc>
                <a:spcPct val="112000"/>
              </a:lnSpc>
              <a:buNone/>
            </a:pPr>
            <a:endParaRPr lang="en-US" sz="1300" dirty="0"/>
          </a:p>
          <a:p>
            <a:pPr indent="0" marL="0">
              <a:lnSpc>
                <a:spcPct val="112000"/>
              </a:lnSpc>
              <a:buNone/>
            </a:pPr>
            <a:r>
              <a:rPr lang="en-US" sz="1300" dirty="0">
                <a:solidFill>
                  <a:srgbClr val="3D3645"/>
                </a:solidFill>
              </a:rPr>
              <a:t>A photograph of a dog means nothing once the dog’s row is gone. Cascades chain: deleting a pet takes its vaccinations, and each takes its reminder rows.</a:t>
            </a:r>
            <a:endParaRPr lang="en-US" sz="1300" dirty="0"/>
          </a:p>
        </p:txBody>
      </p:sp>
      <p:sp>
        <p:nvSpPr>
          <p:cNvPr id="7" name="Shape 5"/>
          <p:cNvSpPr/>
          <p:nvPr/>
        </p:nvSpPr>
        <p:spPr>
          <a:xfrm>
            <a:off x="6217920" y="1847088"/>
            <a:ext cx="5394960" cy="2286000"/>
          </a:xfrm>
          <a:prstGeom prst="roundRect">
            <a:avLst>
              <a:gd name="adj" fmla="val 4800"/>
            </a:avLst>
          </a:prstGeom>
          <a:solidFill>
            <a:srgbClr val="FFFFFF"/>
          </a:solidFill>
          <a:ln w="15875">
            <a:solidFill>
              <a:srgbClr val="15803D"/>
            </a:solidFill>
            <a:prstDash val="solid"/>
          </a:ln>
        </p:spPr>
      </p:sp>
      <p:sp>
        <p:nvSpPr>
          <p:cNvPr id="8" name="Text 6"/>
          <p:cNvSpPr txBox="1"/>
          <p:nvPr/>
        </p:nvSpPr>
        <p:spPr>
          <a:xfrm>
            <a:off x="6455664" y="2057400"/>
            <a:ext cx="4919472" cy="402336"/>
          </a:xfrm>
          <a:prstGeom prst="rect">
            <a:avLst/>
          </a:prstGeom>
          <a:noFill/>
          <a:ln/>
        </p:spPr>
        <p:txBody>
          <a:bodyPr wrap="square" lIns="0" tIns="0" rIns="0" bIns="0" rtlCol="0" anchor="t"/>
          <a:lstStyle/>
          <a:p>
            <a:pPr indent="0" marL="0">
              <a:buNone/>
            </a:pPr>
            <a:r>
              <a:rPr lang="en-US" sz="1700" b="1" dirty="0">
                <a:solidFill>
                  <a:srgbClr val="15803D"/>
                </a:solidFill>
              </a:rPr>
              <a:t>RESTRICT — a transaction involving it</a:t>
            </a:r>
            <a:endParaRPr lang="en-US" sz="1700" dirty="0"/>
          </a:p>
        </p:txBody>
      </p:sp>
      <p:sp>
        <p:nvSpPr>
          <p:cNvPr id="9" name="Text 7"/>
          <p:cNvSpPr txBox="1"/>
          <p:nvPr/>
        </p:nvSpPr>
        <p:spPr>
          <a:xfrm>
            <a:off x="6455664" y="2505456"/>
            <a:ext cx="4919472" cy="1389888"/>
          </a:xfrm>
          <a:prstGeom prst="rect">
            <a:avLst/>
          </a:prstGeom>
          <a:noFill/>
          <a:ln/>
        </p:spPr>
        <p:txBody>
          <a:bodyPr wrap="square" lIns="0" tIns="0" rIns="0" bIns="0" rtlCol="0" anchor="t"/>
          <a:lstStyle/>
          <a:p>
            <a:pPr indent="0" marL="0">
              <a:lnSpc>
                <a:spcPct val="112000"/>
              </a:lnSpc>
              <a:buNone/>
            </a:pPr>
            <a:r>
              <a:rPr lang="en-US" sz="1300" dirty="0">
                <a:solidFill>
                  <a:srgbClr val="3D3645"/>
                </a:solidFill>
              </a:rPr>
              <a:t>adoption_applications · adoptions · boarding_requests · daycare_subscriptions</a:t>
            </a:r>
            <a:endParaRPr lang="en-US" sz="1300" dirty="0"/>
          </a:p>
          <a:p>
            <a:pPr indent="0" marL="0">
              <a:lnSpc>
                <a:spcPct val="112000"/>
              </a:lnSpc>
              <a:buNone/>
            </a:pPr>
            <a:endParaRPr lang="en-US" sz="1300" dirty="0"/>
          </a:p>
          <a:p>
            <a:pPr indent="0" marL="0">
              <a:lnSpc>
                <a:spcPct val="112000"/>
              </a:lnSpc>
              <a:buNone/>
            </a:pPr>
            <a:r>
              <a:rPr lang="en-US" sz="1300" dirty="0">
                <a:solidFill>
                  <a:srgbClr val="3D3645"/>
                </a:solidFill>
              </a:rPr>
              <a:t>An adoption is an agreement between two parties. It cannot vanish because the pet record was tidied away — so the pet simply cannot be deleted.</a:t>
            </a:r>
            <a:endParaRPr lang="en-US" sz="1300" dirty="0"/>
          </a:p>
        </p:txBody>
      </p:sp>
      <p:sp>
        <p:nvSpPr>
          <p:cNvPr id="10" name="Text 8"/>
          <p:cNvSpPr txBox="1"/>
          <p:nvPr/>
        </p:nvSpPr>
        <p:spPr>
          <a:xfrm>
            <a:off x="548640" y="4370832"/>
            <a:ext cx="11064240" cy="786384"/>
          </a:xfrm>
          <a:prstGeom prst="rect">
            <a:avLst/>
          </a:prstGeom>
          <a:noFill/>
          <a:ln/>
        </p:spPr>
        <p:txBody>
          <a:bodyPr wrap="square" lIns="0" tIns="0" rIns="0" bIns="0" rtlCol="0" anchor="ctr"/>
          <a:lstStyle/>
          <a:p>
            <a:pPr indent="0" marL="0">
              <a:lnSpc>
                <a:spcPct val="115000"/>
              </a:lnSpc>
              <a:buNone/>
            </a:pPr>
            <a:r>
              <a:rPr lang="en-US" sz="1400" dirty="0">
                <a:solidFill>
                  <a:srgbClr val="1A1420"/>
                </a:solidFill>
              </a:rPr>
              <a:t>None of this cascading is in Java. There is no CascadeType, no orphanRemoval and no @JoinColumn anywhere — foreign keys are mapped as plain Long columns, so JPA has no object graph and could not cascade if asked. All 21 cascades are ON DELETE clauses in the migrations.</a:t>
            </a:r>
            <a:endParaRPr lang="en-US" sz="140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Views — 4, all four read by application code</a:t>
            </a:r>
            <a:endParaRPr lang="en-US" sz="3200" dirty="0"/>
          </a:p>
        </p:txBody>
      </p:sp>
      <p:sp>
        <p:nvSpPr>
          <p:cNvPr id="3" name="Text 1"/>
          <p:cNvSpPr txBox="1"/>
          <p:nvPr/>
        </p:nvSpPr>
        <p:spPr>
          <a:xfrm>
            <a:off x="548640" y="1298448"/>
            <a:ext cx="11064240" cy="548640"/>
          </a:xfrm>
          <a:prstGeom prst="rect">
            <a:avLst/>
          </a:prstGeom>
          <a:noFill/>
          <a:ln/>
        </p:spPr>
        <p:txBody>
          <a:bodyPr wrap="square" lIns="0" tIns="0" rIns="0" bIns="0" rtlCol="0" anchor="ctr"/>
          <a:lstStyle/>
          <a:p>
            <a:pPr indent="0" marL="0">
              <a:lnSpc>
                <a:spcPct val="112000"/>
              </a:lnSpc>
              <a:buNone/>
            </a:pPr>
            <a:r>
              <a:rPr lang="en-US" sz="1450" dirty="0">
                <a:solidFill>
                  <a:srgbClr val="1A1420"/>
                </a:solidFill>
              </a:rPr>
              <a:t>We use a view when a definition must live in exactly one place. The trigger was real drift: what “vaccinated” means had been hand-written in three separate queries, and they had already begun to disagree.</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64240" cy="914400"/>
        </p:xfrm>
        <a:graphic>
          <a:graphicData uri="http://schemas.openxmlformats.org/drawingml/2006/table">
            <a:tbl>
              <a:tblPr/>
              <a:tblGrid>
                <a:gridCol w="2286000"/>
                <a:gridCol w="4023360"/>
                <a:gridCol w="4754880"/>
              </a:tblGrid>
              <a:tr h="0">
                <a:tc>
                  <a:txBody>
                    <a:bodyPr/>
                    <a:lstStyle/>
                    <a:p>
                      <a:pPr indent="0" marL="0">
                        <a:buNone/>
                      </a:pPr>
                      <a:r>
                        <a:rPr lang="en-US" sz="1150" b="1" dirty="0">
                          <a:solidFill>
                            <a:srgbClr val="1A1420"/>
                          </a:solidFill>
                        </a:rPr>
                        <a:t>View</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c>
                  <a:txBody>
                    <a:bodyPr/>
                    <a:lstStyle/>
                    <a:p>
                      <a:pPr indent="0" marL="0">
                        <a:buNone/>
                      </a:pPr>
                      <a:r>
                        <a:rPr lang="en-US" sz="1150" b="1" dirty="0">
                          <a:solidFill>
                            <a:srgbClr val="1A1420"/>
                          </a:solidFill>
                        </a:rPr>
                        <a:t>The definition it owns</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c>
                  <a:txBody>
                    <a:bodyPr/>
                    <a:lstStyle/>
                    <a:p>
                      <a:pPr indent="0" marL="0">
                        <a:buNone/>
                      </a:pPr>
                      <a:r>
                        <a:rPr lang="en-US" sz="1150" b="1" dirty="0">
                          <a:solidFill>
                            <a:srgbClr val="1A1420"/>
                          </a:solidFill>
                        </a:rPr>
                        <a:t>Why a view and not a query</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r>
              <a:tr h="0">
                <a:tc>
                  <a:txBody>
                    <a:bodyPr/>
                    <a:lstStyle/>
                    <a:p>
                      <a:pPr indent="0" marL="0">
                        <a:buNone/>
                      </a:pPr>
                      <a:r>
                        <a:rPr lang="en-US" sz="1150" b="1" dirty="0">
                          <a:solidFill>
                            <a:srgbClr val="9908D2"/>
                          </a:solidFill>
                        </a:rPr>
                        <a:t>v_pet_listing</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50" dirty="0">
                          <a:solidFill>
                            <a:srgbClr val="3D3645"/>
                          </a:solidFill>
                        </a:rPr>
                        <a:t>The public catalogue row: cover photo, gallery, trait labels, open applications, and what counts as vaccinated</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50" dirty="0">
                          <a:solidFill>
                            <a:srgbClr val="3D3645"/>
                          </a:solidFill>
                        </a:rPr>
                        <a:t>Five screens must agree on “vaccinated”. A comment promising they do was a promise no compiler checked.</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9908D2"/>
                          </a:solidFill>
                        </a:rPr>
                        <a:t>v_adopter_traits</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50" dirty="0">
                          <a:solidFill>
                            <a:srgbClr val="3D3645"/>
                          </a:solidFill>
                        </a:rPr>
                        <a:t>The weighted trait profile a quiz attempt produces</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50" dirty="0">
                          <a:solidFill>
                            <a:srgbClr val="3D3645"/>
                          </a:solidFill>
                        </a:rPr>
                        <a:t>Read by the recommendation query and the quiz service — one scoring rule, three call sites.</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9908D2"/>
                          </a:solidFill>
                        </a:rPr>
                        <a:t>v_shelter_revenue</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50" dirty="0">
                          <a:solidFill>
                            <a:srgbClr val="3D3645"/>
                          </a:solidFill>
                        </a:rPr>
                        <a:t>Billing by shelter and month, boarding and daycare kept apart</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50" dirty="0">
                          <a:solidFill>
                            <a:srgbClr val="3D3645"/>
                          </a:solidFill>
                        </a:rPr>
                        <a:t>units means nights on a boarding slip and months on a subscription. One summed column would add nights to months.</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9908D2"/>
                          </a:solidFill>
                        </a:rPr>
                        <a:t>v_daycare_day</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50" dirty="0">
                          <a:solidFill>
                            <a:srgbClr val="3D3645"/>
                          </a:solidFill>
                        </a:rPr>
                        <a:t>One attendance row with every name attached — eight tables joined</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50" dirty="0">
                          <a:solidFill>
                            <a:srgbClr val="3D3645"/>
                          </a:solidFill>
                        </a:rPr>
                        <a:t>The live board and the history screen cannot disagree about what a visit is.</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440680"/>
            <a:ext cx="11064240" cy="310896"/>
          </a:xfrm>
          <a:prstGeom prst="rect">
            <a:avLst/>
          </a:prstGeom>
          <a:noFill/>
          <a:ln/>
        </p:spPr>
        <p:txBody>
          <a:bodyPr wrap="square" lIns="0" tIns="0" rIns="0" bIns="0" rtlCol="0" anchor="ctr"/>
          <a:lstStyle/>
          <a:p>
            <a:pPr indent="0" marL="0">
              <a:buNone/>
            </a:pPr>
            <a:r>
              <a:rPr lang="en-US" sz="1250" i="1" dirty="0">
                <a:solidFill>
                  <a:srgbClr val="9908D2"/>
                </a:solidFill>
              </a:rPr>
              <a:t>A view is a correctness tool, not a performance tool — we chose one definition of “vaccinated” over a faster query, knowingly.</a:t>
            </a:r>
            <a:endParaRPr lang="en-US" sz="12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Transactions — 162 @Transactional, 6 pessimistic locks</a:t>
            </a:r>
            <a:endParaRPr lang="en-US" sz="3200" dirty="0"/>
          </a:p>
        </p:txBody>
      </p:sp>
      <p:sp>
        <p:nvSpPr>
          <p:cNvPr id="3" name="Text 1"/>
          <p:cNvSpPr txBox="1"/>
          <p:nvPr/>
        </p:nvSpPr>
        <p:spPr>
          <a:xfrm>
            <a:off x="548640" y="1298448"/>
            <a:ext cx="11064240" cy="548640"/>
          </a:xfrm>
          <a:prstGeom prst="rect">
            <a:avLst/>
          </a:prstGeom>
          <a:noFill/>
          <a:ln/>
        </p:spPr>
        <p:txBody>
          <a:bodyPr wrap="square" lIns="0" tIns="0" rIns="0" bIns="0" rtlCol="0" anchor="ctr"/>
          <a:lstStyle/>
          <a:p>
            <a:pPr indent="0" marL="0">
              <a:lnSpc>
                <a:spcPct val="112000"/>
              </a:lnSpc>
              <a:buNone/>
            </a:pPr>
            <a:r>
              <a:rPr lang="en-US" sz="1450" dirty="0">
                <a:solidFill>
                  <a:srgbClr val="1A1420"/>
                </a:solidFill>
              </a:rPr>
              <a:t>A transaction does exactly two jobs here: making several writes land all or none, and — with SELECT … FOR UPDATE — enforcing the cross-row rules MySQL cannot state as constraints.</a:t>
            </a:r>
            <a:endParaRPr lang="en-US" sz="1450" dirty="0"/>
          </a:p>
        </p:txBody>
      </p:sp>
      <p:sp>
        <p:nvSpPr>
          <p:cNvPr id="4" name="Shape 2"/>
          <p:cNvSpPr/>
          <p:nvPr/>
        </p:nvSpPr>
        <p:spPr>
          <a:xfrm>
            <a:off x="548640" y="1956816"/>
            <a:ext cx="5394960" cy="3017520"/>
          </a:xfrm>
          <a:prstGeom prst="roundRect">
            <a:avLst>
              <a:gd name="adj" fmla="val 3636"/>
            </a:avLst>
          </a:prstGeom>
          <a:solidFill>
            <a:srgbClr val="FFFFFF"/>
          </a:solidFill>
          <a:ln w="15875">
            <a:solidFill>
              <a:srgbClr val="DB8FFA"/>
            </a:solidFill>
            <a:prstDash val="solid"/>
          </a:ln>
        </p:spPr>
      </p:sp>
      <p:sp>
        <p:nvSpPr>
          <p:cNvPr id="5" name="Text 3"/>
          <p:cNvSpPr txBox="1"/>
          <p:nvPr/>
        </p:nvSpPr>
        <p:spPr>
          <a:xfrm>
            <a:off x="786384" y="2167128"/>
            <a:ext cx="4919472" cy="402336"/>
          </a:xfrm>
          <a:prstGeom prst="rect">
            <a:avLst/>
          </a:prstGeom>
          <a:noFill/>
          <a:ln/>
        </p:spPr>
        <p:txBody>
          <a:bodyPr wrap="square" lIns="0" tIns="0" rIns="0" bIns="0" rtlCol="0" anchor="t"/>
          <a:lstStyle/>
          <a:p>
            <a:pPr indent="0" marL="0">
              <a:buNone/>
            </a:pPr>
            <a:r>
              <a:rPr lang="en-US" sz="1700" b="1" dirty="0">
                <a:solidFill>
                  <a:srgbClr val="9908D2"/>
                </a:solidFill>
              </a:rPr>
              <a:t>All or none</a:t>
            </a:r>
            <a:endParaRPr lang="en-US" sz="1700" dirty="0"/>
          </a:p>
        </p:txBody>
      </p:sp>
      <p:sp>
        <p:nvSpPr>
          <p:cNvPr id="6" name="Text 4"/>
          <p:cNvSpPr txBox="1"/>
          <p:nvPr/>
        </p:nvSpPr>
        <p:spPr>
          <a:xfrm>
            <a:off x="786384" y="2596896"/>
            <a:ext cx="4919472" cy="21396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3D3645"/>
                </a:solidFill>
              </a:rPr>
              <a:t>Approve an application — close every rival, mark the pet adopted, notify, write the audit row</a:t>
            </a:r>
            <a:endParaRPr lang="en-US" sz="1250" dirty="0"/>
          </a:p>
          <a:p>
            <a:pPr marL="342900" indent="-342900">
              <a:spcAft>
                <a:spcPts val="500"/>
              </a:spcAft>
              <a:buSzPct val="100000"/>
              <a:buChar char="•"/>
            </a:pPr>
            <a:r>
              <a:rPr lang="en-US" sz="1250" dirty="0">
                <a:solidFill>
                  <a:srgbClr val="3D3645"/>
                </a:solidFill>
              </a:rPr>
              <a:t>Check out of boarding — compute nights stayed, copy charges onto a slip, issue it, free the room</a:t>
            </a:r>
            <a:endParaRPr lang="en-US" sz="1250" dirty="0"/>
          </a:p>
          <a:p>
            <a:pPr marL="342900" indent="-342900">
              <a:spcAft>
                <a:spcPts val="500"/>
              </a:spcAft>
              <a:buSzPct val="100000"/>
              <a:buChar char="•"/>
            </a:pPr>
            <a:r>
              <a:rPr lang="en-US" sz="1250" dirty="0">
                <a:solidFill>
                  <a:srgbClr val="3D3645"/>
                </a:solidFill>
              </a:rPr>
              <a:t>Monthly billing job — retire ended subscriptions, then bill the live ones</a:t>
            </a:r>
            <a:endParaRPr lang="en-US" sz="1250" dirty="0"/>
          </a:p>
          <a:p>
            <a:pPr marL="342900" indent="-342900">
              <a:spcAft>
                <a:spcPts val="500"/>
              </a:spcAft>
              <a:buSzPct val="100000"/>
              <a:buChar char="•"/>
            </a:pPr>
            <a:r>
              <a:rPr lang="en-US" sz="1250" dirty="0">
                <a:solidFill>
                  <a:srgbClr val="3D3645"/>
                </a:solidFill>
              </a:rPr>
              <a:t>The audit row has no @Transactional of its own: it joins the caller’s, so it can never record a decision that rolled back</a:t>
            </a:r>
            <a:endParaRPr lang="en-US" sz="1250" dirty="0"/>
          </a:p>
        </p:txBody>
      </p:sp>
      <p:sp>
        <p:nvSpPr>
          <p:cNvPr id="7" name="Shape 5"/>
          <p:cNvSpPr/>
          <p:nvPr/>
        </p:nvSpPr>
        <p:spPr>
          <a:xfrm>
            <a:off x="6217920" y="1956816"/>
            <a:ext cx="5394960" cy="3017520"/>
          </a:xfrm>
          <a:prstGeom prst="roundRect">
            <a:avLst>
              <a:gd name="adj" fmla="val 3636"/>
            </a:avLst>
          </a:prstGeom>
          <a:solidFill>
            <a:srgbClr val="FFFFFF"/>
          </a:solidFill>
          <a:ln w="15875">
            <a:solidFill>
              <a:srgbClr val="B20BF4"/>
            </a:solidFill>
            <a:prstDash val="solid"/>
          </a:ln>
        </p:spPr>
      </p:sp>
      <p:sp>
        <p:nvSpPr>
          <p:cNvPr id="8" name="Text 6"/>
          <p:cNvSpPr txBox="1"/>
          <p:nvPr/>
        </p:nvSpPr>
        <p:spPr>
          <a:xfrm>
            <a:off x="6455664" y="2167128"/>
            <a:ext cx="4919472" cy="402336"/>
          </a:xfrm>
          <a:prstGeom prst="rect">
            <a:avLst/>
          </a:prstGeom>
          <a:noFill/>
          <a:ln/>
        </p:spPr>
        <p:txBody>
          <a:bodyPr wrap="square" lIns="0" tIns="0" rIns="0" bIns="0" rtlCol="0" anchor="t"/>
          <a:lstStyle/>
          <a:p>
            <a:pPr indent="0" marL="0">
              <a:buNone/>
            </a:pPr>
            <a:r>
              <a:rPr lang="en-US" sz="1700" b="1" dirty="0">
                <a:solidFill>
                  <a:srgbClr val="B20BF4"/>
                </a:solidFill>
              </a:rPr>
              <a:t>Locks — rules a CHECK cannot see</a:t>
            </a:r>
            <a:endParaRPr lang="en-US" sz="1700" dirty="0"/>
          </a:p>
        </p:txBody>
      </p:sp>
      <p:sp>
        <p:nvSpPr>
          <p:cNvPr id="9" name="Text 7"/>
          <p:cNvSpPr txBox="1"/>
          <p:nvPr/>
        </p:nvSpPr>
        <p:spPr>
          <a:xfrm>
            <a:off x="6455664" y="2596896"/>
            <a:ext cx="4919472" cy="21396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3D3645"/>
                </a:solidFill>
              </a:rPr>
              <a:t>lockOverlappingForPet — one animal, no two overlapping stays</a:t>
            </a:r>
            <a:endParaRPr lang="en-US" sz="1250" dirty="0"/>
          </a:p>
          <a:p>
            <a:pPr marL="342900" indent="-342900">
              <a:spcAft>
                <a:spcPts val="500"/>
              </a:spcAft>
              <a:buSzPct val="100000"/>
              <a:buChar char="•"/>
            </a:pPr>
            <a:r>
              <a:rPr lang="en-US" sz="1250" dirty="0">
                <a:solidFill>
                  <a:srgbClr val="3D3645"/>
                </a:solidFill>
              </a:rPr>
              <a:t>lockOverlappingForSuite — no room filled past capacity</a:t>
            </a:r>
            <a:endParaRPr lang="en-US" sz="1250" dirty="0"/>
          </a:p>
          <a:p>
            <a:pPr marL="342900" indent="-342900">
              <a:spcAft>
                <a:spcPts val="500"/>
              </a:spcAft>
              <a:buSzPct val="100000"/>
              <a:buChar char="•"/>
            </a:pPr>
            <a:r>
              <a:rPr lang="en-US" sz="1250" dirty="0">
                <a:solidFill>
                  <a:srgbClr val="3D3645"/>
                </a:solidFill>
              </a:rPr>
              <a:t>lockById on shelters — the building’s capacity, held while deciding</a:t>
            </a:r>
            <a:endParaRPr lang="en-US" sz="1250" dirty="0"/>
          </a:p>
          <a:p>
            <a:pPr marL="342900" indent="-342900">
              <a:spcAft>
                <a:spcPts val="500"/>
              </a:spcAft>
              <a:buSzPct val="100000"/>
              <a:buChar char="•"/>
            </a:pPr>
            <a:r>
              <a:rPr lang="en-US" sz="1250" dirty="0">
                <a:solidFill>
                  <a:srgbClr val="3D3645"/>
                </a:solidFill>
              </a:rPr>
              <a:t>lockPetSlot, lockSlotAtShelter, lockPetSubscriptionsOver — daycare bands</a:t>
            </a:r>
            <a:endParaRPr lang="en-US" sz="1250" dirty="0"/>
          </a:p>
          <a:p>
            <a:pPr marL="342900" indent="-342900">
              <a:spcAft>
                <a:spcPts val="500"/>
              </a:spcAft>
              <a:buSzPct val="100000"/>
              <a:buChar char="•"/>
            </a:pPr>
            <a:r>
              <a:rPr lang="en-US" sz="1250" dirty="0">
                <a:solidFill>
                  <a:srgbClr val="3D3645"/>
                </a:solidFill>
              </a:rPr>
              <a:t>Under REPEATABLE READ an unlocked read is a consistent but stale snapshot — still wrong when you write based on it</a:t>
            </a:r>
            <a:endParaRPr lang="en-US" sz="1250" dirty="0"/>
          </a:p>
        </p:txBody>
      </p:sp>
      <p:sp>
        <p:nvSpPr>
          <p:cNvPr id="10" name="Text 8"/>
          <p:cNvSpPr txBox="1"/>
          <p:nvPr/>
        </p:nvSpPr>
        <p:spPr>
          <a:xfrm>
            <a:off x="548640" y="5193792"/>
            <a:ext cx="11064240" cy="310896"/>
          </a:xfrm>
          <a:prstGeom prst="rect">
            <a:avLst/>
          </a:prstGeom>
          <a:noFill/>
          <a:ln/>
        </p:spPr>
        <p:txBody>
          <a:bodyPr wrap="square" lIns="0" tIns="0" rIns="0" bIns="0" rtlCol="0" anchor="ctr"/>
          <a:lstStyle/>
          <a:p>
            <a:pPr indent="0" marL="0">
              <a:buNone/>
            </a:pPr>
            <a:r>
              <a:rPr lang="en-US" sz="1250" i="1" dirty="0">
                <a:solidFill>
                  <a:srgbClr val="9908D2"/>
                </a:solidFill>
              </a:rPr>
              <a:t>Accepting a boarding request runs five capacity and eligibility checks inside one transaction before anything is written.</a:t>
            </a:r>
            <a:endParaRPr lang="en-US" sz="12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Indexes — 124 total, 41 composite, 19 unique beyond the keys</a:t>
            </a:r>
            <a:endParaRPr lang="en-US" sz="3200" dirty="0"/>
          </a:p>
        </p:txBody>
      </p:sp>
      <p:sp>
        <p:nvSpPr>
          <p:cNvPr id="3" name="Text 1"/>
          <p:cNvSpPr txBox="1"/>
          <p:nvPr/>
        </p:nvSpPr>
        <p:spPr>
          <a:xfrm>
            <a:off x="548640" y="1298448"/>
            <a:ext cx="11064240" cy="548640"/>
          </a:xfrm>
          <a:prstGeom prst="rect">
            <a:avLst/>
          </a:prstGeom>
          <a:noFill/>
          <a:ln/>
        </p:spPr>
        <p:txBody>
          <a:bodyPr wrap="square" lIns="0" tIns="0" rIns="0" bIns="0" rtlCol="0" anchor="ctr"/>
          <a:lstStyle/>
          <a:p>
            <a:pPr indent="0" marL="0">
              <a:lnSpc>
                <a:spcPct val="112000"/>
              </a:lnSpc>
              <a:buNone/>
            </a:pPr>
            <a:r>
              <a:rPr lang="en-US" sz="1450" dirty="0">
                <a:solidFill>
                  <a:srgbClr val="1A1420"/>
                </a:solidFill>
              </a:rPr>
              <a:t>Each one exists for a named query. Column order is part of the design: a composite index is only useful left to right, so it is a statement about which filter comes first.</a:t>
            </a:r>
            <a:endParaRPr lang="en-US" sz="1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64240" cy="914400"/>
        </p:xfrm>
        <a:graphic>
          <a:graphicData uri="http://schemas.openxmlformats.org/drawingml/2006/table">
            <a:tbl>
              <a:tblPr/>
              <a:tblGrid>
                <a:gridCol w="3200400"/>
                <a:gridCol w="2377440"/>
                <a:gridCol w="5486400"/>
              </a:tblGrid>
              <a:tr h="0">
                <a:tc>
                  <a:txBody>
                    <a:bodyPr/>
                    <a:lstStyle/>
                    <a:p>
                      <a:pPr indent="0" marL="0">
                        <a:buNone/>
                      </a:pPr>
                      <a:r>
                        <a:rPr lang="en-US" sz="1150" b="1" dirty="0">
                          <a:solidFill>
                            <a:srgbClr val="1A1420"/>
                          </a:solidFill>
                        </a:rPr>
                        <a:t>Index</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c>
                  <a:txBody>
                    <a:bodyPr/>
                    <a:lstStyle/>
                    <a:p>
                      <a:pPr indent="0" marL="0">
                        <a:buNone/>
                      </a:pPr>
                      <a:r>
                        <a:rPr lang="en-US" sz="1150" b="1" dirty="0">
                          <a:solidFill>
                            <a:srgbClr val="1A1420"/>
                          </a:solidFill>
                        </a:rPr>
                        <a:t>Serves</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c>
                  <a:txBody>
                    <a:bodyPr/>
                    <a:lstStyle/>
                    <a:p>
                      <a:pPr indent="0" marL="0">
                        <a:buNone/>
                      </a:pPr>
                      <a:r>
                        <a:rPr lang="en-US" sz="1150" b="1" dirty="0">
                          <a:solidFill>
                            <a:srgbClr val="1A1420"/>
                          </a:solidFill>
                        </a:rPr>
                        <a:t>Why these columns, in this order</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r>
              <a:tr h="0">
                <a:tc>
                  <a:txBody>
                    <a:bodyPr/>
                    <a:lstStyle/>
                    <a:p>
                      <a:pPr indent="0" marL="0">
                        <a:buNone/>
                      </a:pPr>
                      <a:r>
                        <a:rPr lang="en-US" sz="1100" b="1" dirty="0">
                          <a:solidFill>
                            <a:srgbClr val="9908D2"/>
                          </a:solidFill>
                        </a:rPr>
                        <a:t>idx_pets_browse</a:t>
                      </a:r>
                      <a:endParaRPr lang="en-US" sz="1100" dirty="0"/>
                    </a:p>
                    <a:p>
                      <a:pPr indent="0" marL="0">
                        <a:buNone/>
                      </a:pPr>
                      <a:r>
                        <a:rPr lang="en-US" sz="1100" b="1" dirty="0">
                          <a:solidFill>
                            <a:srgbClr val="9908D2"/>
                          </a:solidFill>
                        </a:rPr>
                        <a:t>(status, species, size)</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The public catalogue</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Status first, because every catalogue query filters on it; species and size are the filters the page offers next.</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9908D2"/>
                          </a:solidFill>
                        </a:rPr>
                        <a:t>idx_boarding_overlap</a:t>
                      </a:r>
                      <a:endParaRPr lang="en-US" sz="1100" dirty="0"/>
                    </a:p>
                    <a:p>
                      <a:pPr indent="0" marL="0">
                        <a:buNone/>
                      </a:pPr>
                      <a:r>
                        <a:rPr lang="en-US" sz="1100" b="1" dirty="0">
                          <a:solidFill>
                            <a:srgbClr val="9908D2"/>
                          </a:solidFill>
                        </a:rPr>
                        <a:t>(pet_id, start_date, end_date)</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The double-booking lock</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Keeps the lock window short. Without it the overlap check is a table scan holding row locks — a correctness feature turned into a throughput problem.</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9908D2"/>
                          </a:solidFill>
                        </a:rPr>
                        <a:t>idx_attendance_suite_band</a:t>
                      </a:r>
                      <a:endParaRPr lang="en-US" sz="1100" dirty="0"/>
                    </a:p>
                    <a:p>
                      <a:pPr indent="0" marL="0">
                        <a:buNone/>
                      </a:pPr>
                      <a:r>
                        <a:rPr lang="en-US" sz="1100" b="1" dirty="0">
                          <a:solidFill>
                            <a:srgbClr val="9908D2"/>
                          </a:solidFill>
                        </a:rPr>
                        <a:t>(suite_id, visit_date, slot, checked_out_at)</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Daycare room occupancy</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Answers “who is in this room, on this date, in this band, still here” in one lookup.</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9908D2"/>
                          </a:solidFill>
                        </a:rPr>
                        <a:t>uq_pet_cover</a:t>
                      </a:r>
                      <a:endParaRPr lang="en-US" sz="1100" dirty="0"/>
                    </a:p>
                    <a:p>
                      <a:pPr indent="0" marL="0">
                        <a:buNone/>
                      </a:pPr>
                      <a:r>
                        <a:rPr lang="en-US" sz="1100" b="1" dirty="0">
                          <a:solidFill>
                            <a:srgbClr val="9908D2"/>
                          </a:solidFill>
                        </a:rPr>
                        <a:t>(pet_id, cover_flag)</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One cover photo per pet</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MySQL has no filtered index, so cover_flag is a generated column, IF(is_cover,1,NULL) — NULLs do not collide, so the unique index permits many non-covers and exactly one cover.</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9908D2"/>
                          </a:solidFill>
                        </a:rPr>
                        <a:t>uq_one_open_app</a:t>
                      </a:r>
                      <a:endParaRPr lang="en-US" sz="1100" dirty="0"/>
                    </a:p>
                    <a:p>
                      <a:pPr indent="0" marL="0">
                        <a:buNone/>
                      </a:pPr>
                      <a:r>
                        <a:rPr lang="en-US" sz="1100" b="1" dirty="0">
                          <a:solidFill>
                            <a:srgbClr val="9908D2"/>
                          </a:solidFill>
                        </a:rPr>
                        <a:t>(applicant_id, pet_id, pending_flag)</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One open application per pet</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100" dirty="0">
                          <a:solidFill>
                            <a:srgbClr val="3D3645"/>
                          </a:solidFill>
                        </a:rPr>
                        <a:t>The same trick: pending_flag is NULL unless the row is PENDING, so a person may re-apply after a rejection but never have two open at once.</a:t>
                      </a:r>
                      <a:endParaRPr lang="en-US" sz="110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486400"/>
            <a:ext cx="11064240" cy="310896"/>
          </a:xfrm>
          <a:prstGeom prst="rect">
            <a:avLst/>
          </a:prstGeom>
          <a:noFill/>
          <a:ln/>
        </p:spPr>
        <p:txBody>
          <a:bodyPr wrap="square" lIns="0" tIns="0" rIns="0" bIns="0" rtlCol="0" anchor="ctr"/>
          <a:lstStyle/>
          <a:p>
            <a:pPr indent="0" marL="0">
              <a:buNone/>
            </a:pPr>
            <a:r>
              <a:rPr lang="en-US" sz="1250" i="1" dirty="0">
                <a:solidFill>
                  <a:srgbClr val="9908D2"/>
                </a:solidFill>
              </a:rPr>
              <a:t>The last two are constraints, not optimisations — an index enforcing a business rule MySQL has no other way to state.</a:t>
            </a:r>
            <a:endParaRPr lang="en-US" sz="12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Benchmarking — how we compare</a:t>
            </a:r>
            <a:endParaRPr lang="en-US" sz="3200" dirty="0"/>
          </a:p>
        </p:txBody>
      </p:sp>
      <p:sp>
        <p:nvSpPr>
          <p:cNvPr id="3" name="Text 1"/>
          <p:cNvSpPr txBox="1"/>
          <p:nvPr/>
        </p:nvSpPr>
        <p:spPr>
          <a:xfrm>
            <a:off x="548640" y="1261872"/>
            <a:ext cx="11064240" cy="566928"/>
          </a:xfrm>
          <a:prstGeom prst="rect">
            <a:avLst/>
          </a:prstGeom>
          <a:noFill/>
          <a:ln/>
        </p:spPr>
        <p:txBody>
          <a:bodyPr wrap="square" lIns="0" tIns="0" rIns="0" bIns="0" rtlCol="0" anchor="ctr"/>
          <a:lstStyle/>
          <a:p>
            <a:pPr indent="0" marL="0">
              <a:lnSpc>
                <a:spcPct val="110000"/>
              </a:lnSpc>
              <a:buNone/>
            </a:pPr>
            <a:r>
              <a:rPr lang="en-US" sz="1350" dirty="0">
                <a:solidFill>
                  <a:srgbClr val="1A1420"/>
                </a:solidFill>
              </a:rPr>
              <a:t>Two kinds of product exist in this domain. Petfinder is a listing aggregator — an adopter applies to the shelter, not through it. Shelterluv is a full management platform used by 2,500+ shelters and rescues. Comparing against both is what told us where a student project could sit honestly.</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3657600"/>
                <a:gridCol w="1920240"/>
                <a:gridCol w="2377440"/>
                <a:gridCol w="3108960"/>
              </a:tblGrid>
              <a:tr h="0">
                <a:tc>
                  <a:txBody>
                    <a:bodyPr/>
                    <a:lstStyle/>
                    <a:p>
                      <a:pPr indent="0" marL="0">
                        <a:buNone/>
                      </a:pPr>
                      <a:r>
                        <a:rPr lang="en-US" sz="1150" b="1" dirty="0">
                          <a:solidFill>
                            <a:srgbClr val="1A1420"/>
                          </a:solidFill>
                        </a:rPr>
                        <a:t>Capability</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c>
                  <a:txBody>
                    <a:bodyPr/>
                    <a:lstStyle/>
                    <a:p>
                      <a:pPr indent="0" marL="0">
                        <a:buNone/>
                      </a:pPr>
                      <a:r>
                        <a:rPr lang="en-US" sz="1150" b="1" dirty="0">
                          <a:solidFill>
                            <a:srgbClr val="1A1420"/>
                          </a:solidFill>
                        </a:rPr>
                        <a:t>Petfinder</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c>
                  <a:txBody>
                    <a:bodyPr/>
                    <a:lstStyle/>
                    <a:p>
                      <a:pPr indent="0" marL="0">
                        <a:buNone/>
                      </a:pPr>
                      <a:r>
                        <a:rPr lang="en-US" sz="1150" b="1" dirty="0">
                          <a:solidFill>
                            <a:srgbClr val="1A1420"/>
                          </a:solidFill>
                        </a:rPr>
                        <a:t>Shelterluv</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c>
                  <a:txBody>
                    <a:bodyPr/>
                    <a:lstStyle/>
                    <a:p>
                      <a:pPr indent="0" marL="0">
                        <a:buNone/>
                      </a:pPr>
                      <a:r>
                        <a:rPr lang="en-US" sz="1150" b="1" dirty="0">
                          <a:solidFill>
                            <a:srgbClr val="1A1420"/>
                          </a:solidFill>
                        </a:rPr>
                        <a:t>PawHome</a:t>
                      </a:r>
                      <a:endParaRPr lang="en-US" sz="11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4E3F8"/>
                    </a:solidFill>
                  </a:tcPr>
                </a:tc>
              </a:tr>
              <a:tr h="0">
                <a:tc>
                  <a:txBody>
                    <a:bodyPr/>
                    <a:lstStyle/>
                    <a:p>
                      <a:pPr indent="0" marL="0">
                        <a:buNone/>
                      </a:pPr>
                      <a:r>
                        <a:rPr lang="en-US" sz="1050" dirty="0">
                          <a:solidFill>
                            <a:srgbClr val="3D3645"/>
                          </a:solidFill>
                        </a:rPr>
                        <a:t>Public adoptable-pet catalogue</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Adopter accounts and favourites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3D3645"/>
                          </a:solidFill>
                        </a:rPr>
                        <a:t>Partly</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Applications handled in-system</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 — passed on</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 — review, decline reasons, rival closure</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Trait-scored matching quiz</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B20BF4"/>
                          </a:solidFill>
                        </a:rPr>
                        <a:t>Yes — unique to PawHome</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Medical / vaccination records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 — with due-date reminders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Boarding with rooms and capacity</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B20BF4"/>
                          </a:solidFill>
                        </a:rPr>
                        <a:t>Yes — unique to PawHome</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Daycare subscriptions and attendance</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B20BF4"/>
                          </a:solidFill>
                        </a:rPr>
                        <a:t>Yes — unique to PawHome</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Daily care tasks and logs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Billing and itemised slips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3D3645"/>
                          </a:solidFill>
                        </a:rPr>
                        <a:t>Yes — donations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Foster management</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Donations, microchip, field services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6E6578"/>
                          </a:solidFill>
                        </a:rPr>
                        <a:t>No</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D3645"/>
                          </a:solidFill>
                        </a:rPr>
                        <a:t>Multi-shelter administration</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dirty="0">
                          <a:solidFill>
                            <a:srgbClr val="3D3645"/>
                          </a:solidFill>
                        </a:rPr>
                        <a:t>Aggregates listings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5803D"/>
                          </a:solidFill>
                        </a:rPr>
                        <a:t>Yes</a:t>
                      </a:r>
                      <a:endParaRPr lang="en-US" sz="1050" dirty="0"/>
                    </a:p>
                  </a:txBody>
                  <a:tcPr marL="88900" marR="88900" marT="63500" marB="63500" anchor="ctr">
                    <a:lnL w="9525" cap="flat" cmpd="sng" algn="ctr">
                      <a:solidFill>
                        <a:srgbClr val="E6D5EE"/>
                      </a:solidFill>
                      <a:prstDash val="solid"/>
                      <a:round/>
                      <a:headEnd type="none" w="med" len="med"/>
                      <a:tailEnd type="none" w="med" len="med"/>
                    </a:lnL>
                    <a:lnR w="9525" cap="flat" cmpd="sng" algn="ctr">
                      <a:solidFill>
                        <a:srgbClr val="E6D5EE"/>
                      </a:solidFill>
                      <a:prstDash val="solid"/>
                      <a:round/>
                      <a:headEnd type="none" w="med" len="med"/>
                      <a:tailEnd type="none" w="med" len="med"/>
                    </a:lnR>
                    <a:lnT w="9525" cap="flat" cmpd="sng" algn="ctr">
                      <a:solidFill>
                        <a:srgbClr val="E6D5EE"/>
                      </a:solidFill>
                      <a:prstDash val="solid"/>
                      <a:round/>
                      <a:headEnd type="none" w="med" len="med"/>
                      <a:tailEnd type="none" w="med" len="med"/>
                    </a:lnT>
                    <a:lnB w="9525" cap="flat" cmpd="sng" algn="ctr">
                      <a:solidFill>
                        <a:srgbClr val="E6D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42432"/>
            <a:ext cx="11064240" cy="310896"/>
          </a:xfrm>
          <a:prstGeom prst="rect">
            <a:avLst/>
          </a:prstGeom>
          <a:noFill/>
          <a:ln/>
        </p:spPr>
        <p:txBody>
          <a:bodyPr wrap="square" lIns="0" tIns="0" rIns="0" bIns="0" rtlCol="0" anchor="ctr"/>
          <a:lstStyle/>
          <a:p>
            <a:pPr indent="0" marL="0">
              <a:buNone/>
            </a:pPr>
            <a:r>
              <a:rPr lang="en-US" sz="1200" i="1" dirty="0">
                <a:solidFill>
                  <a:srgbClr val="9908D2"/>
                </a:solidFill>
              </a:rPr>
              <a:t>Three rows appear in neither product: boarding and daycare as capacity-constrained services with rooms and per-stay billing, and matching on temperament rather than breed and distance.</a:t>
            </a:r>
            <a:endParaRPr lang="en-US" sz="120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Limitations</a:t>
            </a:r>
            <a:endParaRPr lang="en-US" sz="3200" dirty="0"/>
          </a:p>
        </p:txBody>
      </p:sp>
      <p:sp>
        <p:nvSpPr>
          <p:cNvPr id="3" name="Text 1"/>
          <p:cNvSpPr txBox="1"/>
          <p:nvPr/>
        </p:nvSpPr>
        <p:spPr>
          <a:xfrm>
            <a:off x="548640" y="1298448"/>
            <a:ext cx="11064240" cy="548640"/>
          </a:xfrm>
          <a:prstGeom prst="rect">
            <a:avLst/>
          </a:prstGeom>
          <a:noFill/>
          <a:ln/>
        </p:spPr>
        <p:txBody>
          <a:bodyPr wrap="square" lIns="0" tIns="0" rIns="0" bIns="0" rtlCol="0" anchor="ctr"/>
          <a:lstStyle/>
          <a:p>
            <a:pPr indent="0" marL="0">
              <a:lnSpc>
                <a:spcPct val="112000"/>
              </a:lnSpc>
              <a:buNone/>
            </a:pPr>
            <a:r>
              <a:rPr lang="en-US" sz="1400" dirty="0">
                <a:solidFill>
                  <a:srgbClr val="1A1420"/>
                </a:solidFill>
              </a:rPr>
              <a:t>Found by auditing the system against itself — a mechanical cross-reference of all 151 endpoints against every front-end call. It found no broken call, no role mismatch and no ungated private endpoint. It did find these.</a:t>
            </a:r>
            <a:endParaRPr lang="en-US" sz="1400" dirty="0"/>
          </a:p>
        </p:txBody>
      </p:sp>
      <p:sp>
        <p:nvSpPr>
          <p:cNvPr id="4" name="Shape 2"/>
          <p:cNvSpPr/>
          <p:nvPr/>
        </p:nvSpPr>
        <p:spPr>
          <a:xfrm>
            <a:off x="548640" y="1975104"/>
            <a:ext cx="3566160" cy="3108960"/>
          </a:xfrm>
          <a:prstGeom prst="roundRect">
            <a:avLst>
              <a:gd name="adj" fmla="val 3529"/>
            </a:avLst>
          </a:prstGeom>
          <a:solidFill>
            <a:srgbClr val="FDF7FE"/>
          </a:solidFill>
          <a:ln w="15875">
            <a:solidFill>
              <a:srgbClr val="DB8FFA"/>
            </a:solidFill>
            <a:prstDash val="solid"/>
          </a:ln>
        </p:spPr>
      </p:sp>
      <p:sp>
        <p:nvSpPr>
          <p:cNvPr id="5" name="Text 3"/>
          <p:cNvSpPr txBox="1"/>
          <p:nvPr/>
        </p:nvSpPr>
        <p:spPr>
          <a:xfrm>
            <a:off x="786384" y="218541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Functional gaps</a:t>
            </a:r>
            <a:endParaRPr lang="en-US" sz="1700" dirty="0"/>
          </a:p>
        </p:txBody>
      </p:sp>
      <p:sp>
        <p:nvSpPr>
          <p:cNvPr id="6" name="Text 4"/>
          <p:cNvSpPr txBox="1"/>
          <p:nvPr/>
        </p:nvSpPr>
        <p:spPr>
          <a:xfrm>
            <a:off x="786384" y="2615184"/>
            <a:ext cx="3090672" cy="2231136"/>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3645"/>
                </a:solidFill>
              </a:rPr>
              <a:t>No admin screen for daycare subscriptions — the endpoint exists and returns data</a:t>
            </a:r>
            <a:endParaRPr lang="en-US" sz="1150" dirty="0"/>
          </a:p>
          <a:p>
            <a:pPr marL="342900" indent="-342900">
              <a:spcAft>
                <a:spcPts val="500"/>
              </a:spcAft>
              <a:buSzPct val="100000"/>
              <a:buChar char="•"/>
            </a:pPr>
            <a:r>
              <a:rPr lang="en-US" sz="1150" dirty="0">
                <a:solidFill>
                  <a:srgbClr val="3D3645"/>
                </a:solidFill>
              </a:rPr>
              <a:t>Quiz questions cannot be reordered after creation</a:t>
            </a:r>
            <a:endParaRPr lang="en-US" sz="1150" dirty="0"/>
          </a:p>
          <a:p>
            <a:pPr marL="342900" indent="-342900">
              <a:spcAft>
                <a:spcPts val="500"/>
              </a:spcAft>
              <a:buSzPct val="100000"/>
              <a:buChar char="•"/>
            </a:pPr>
            <a:r>
              <a:rPr lang="en-US" sz="1150" dirty="0">
                <a:solidFill>
                  <a:srgbClr val="3D3645"/>
                </a:solidFill>
              </a:rPr>
              <a:t>Owners see the stay timeline but not the staff care log</a:t>
            </a:r>
            <a:endParaRPr lang="en-US" sz="1150" dirty="0"/>
          </a:p>
          <a:p>
            <a:pPr marL="342900" indent="-342900">
              <a:spcAft>
                <a:spcPts val="500"/>
              </a:spcAft>
              <a:buSzPct val="100000"/>
              <a:buChar char="•"/>
            </a:pPr>
            <a:r>
              <a:rPr lang="en-US" sz="1150" dirty="0">
                <a:solidFill>
                  <a:srgbClr val="3D3645"/>
                </a:solidFill>
              </a:rPr>
              <a:t>14 repository methods compile and are called by nothing</a:t>
            </a:r>
            <a:endParaRPr lang="en-US" sz="1150" dirty="0"/>
          </a:p>
        </p:txBody>
      </p:sp>
      <p:sp>
        <p:nvSpPr>
          <p:cNvPr id="7" name="Shape 5"/>
          <p:cNvSpPr/>
          <p:nvPr/>
        </p:nvSpPr>
        <p:spPr>
          <a:xfrm>
            <a:off x="4297680" y="1975104"/>
            <a:ext cx="3566160" cy="3108960"/>
          </a:xfrm>
          <a:prstGeom prst="roundRect">
            <a:avLst>
              <a:gd name="adj" fmla="val 3529"/>
            </a:avLst>
          </a:prstGeom>
          <a:solidFill>
            <a:srgbClr val="FDF7FE"/>
          </a:solidFill>
          <a:ln w="15875">
            <a:solidFill>
              <a:srgbClr val="DB8FFA"/>
            </a:solidFill>
            <a:prstDash val="solid"/>
          </a:ln>
        </p:spPr>
      </p:sp>
      <p:sp>
        <p:nvSpPr>
          <p:cNvPr id="8" name="Text 6"/>
          <p:cNvSpPr txBox="1"/>
          <p:nvPr/>
        </p:nvSpPr>
        <p:spPr>
          <a:xfrm>
            <a:off x="4535424" y="218541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Design limits we accepted</a:t>
            </a:r>
            <a:endParaRPr lang="en-US" sz="1700" dirty="0"/>
          </a:p>
        </p:txBody>
      </p:sp>
      <p:sp>
        <p:nvSpPr>
          <p:cNvPr id="9" name="Text 7"/>
          <p:cNvSpPr txBox="1"/>
          <p:nvPr/>
        </p:nvSpPr>
        <p:spPr>
          <a:xfrm>
            <a:off x="4535424" y="2615184"/>
            <a:ext cx="3090672" cy="2231136"/>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3645"/>
                </a:solidFill>
              </a:rPr>
              <a:t>Cross-row rules are only as strong as going through the service — a direct UPDATE could still double-book</a:t>
            </a:r>
            <a:endParaRPr lang="en-US" sz="1150" dirty="0"/>
          </a:p>
          <a:p>
            <a:pPr marL="342900" indent="-342900">
              <a:spcAft>
                <a:spcPts val="500"/>
              </a:spcAft>
              <a:buSzPct val="100000"/>
              <a:buChar char="•"/>
            </a:pPr>
            <a:r>
              <a:rPr lang="en-US" sz="1150" dirty="0">
                <a:solidFill>
                  <a:srgbClr val="3D3645"/>
                </a:solidFill>
              </a:rPr>
              <a:t>Room fitting uses Hall’s condition: a correct feasibility test, not an optimal arrangement</a:t>
            </a:r>
            <a:endParaRPr lang="en-US" sz="1150" dirty="0"/>
          </a:p>
          <a:p>
            <a:pPr marL="342900" indent="-342900">
              <a:spcAft>
                <a:spcPts val="500"/>
              </a:spcAft>
              <a:buSzPct val="100000"/>
              <a:buChar char="•"/>
            </a:pPr>
            <a:r>
              <a:rPr lang="en-US" sz="1150" dirty="0">
                <a:solidFill>
                  <a:srgbClr val="3D3645"/>
                </a:solidFill>
              </a:rPr>
              <a:t>Reading the catalogue through a view costs more than the hand-written query</a:t>
            </a:r>
            <a:endParaRPr lang="en-US" sz="1150" dirty="0"/>
          </a:p>
          <a:p>
            <a:pPr marL="342900" indent="-342900">
              <a:spcAft>
                <a:spcPts val="500"/>
              </a:spcAft>
              <a:buSzPct val="100000"/>
              <a:buChar char="•"/>
            </a:pPr>
            <a:r>
              <a:rPr lang="en-US" sz="1150" dirty="0">
                <a:solidFill>
                  <a:srgbClr val="3D3645"/>
                </a:solidFill>
              </a:rPr>
              <a:t>The audit log records seven kinds of decision, not every change</a:t>
            </a:r>
            <a:endParaRPr lang="en-US" sz="1150" dirty="0"/>
          </a:p>
        </p:txBody>
      </p:sp>
      <p:sp>
        <p:nvSpPr>
          <p:cNvPr id="10" name="Shape 8"/>
          <p:cNvSpPr/>
          <p:nvPr/>
        </p:nvSpPr>
        <p:spPr>
          <a:xfrm>
            <a:off x="8046720" y="1975104"/>
            <a:ext cx="3566160" cy="3108960"/>
          </a:xfrm>
          <a:prstGeom prst="roundRect">
            <a:avLst>
              <a:gd name="adj" fmla="val 3529"/>
            </a:avLst>
          </a:prstGeom>
          <a:solidFill>
            <a:srgbClr val="FDF7FE"/>
          </a:solidFill>
          <a:ln w="15875">
            <a:solidFill>
              <a:srgbClr val="DB8FFA"/>
            </a:solidFill>
            <a:prstDash val="solid"/>
          </a:ln>
        </p:spPr>
      </p:sp>
      <p:sp>
        <p:nvSpPr>
          <p:cNvPr id="11" name="Text 9"/>
          <p:cNvSpPr txBox="1"/>
          <p:nvPr/>
        </p:nvSpPr>
        <p:spPr>
          <a:xfrm>
            <a:off x="8284464" y="218541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Operational</a:t>
            </a:r>
            <a:endParaRPr lang="en-US" sz="1700" dirty="0"/>
          </a:p>
        </p:txBody>
      </p:sp>
      <p:sp>
        <p:nvSpPr>
          <p:cNvPr id="12" name="Text 10"/>
          <p:cNvSpPr txBox="1"/>
          <p:nvPr/>
        </p:nvSpPr>
        <p:spPr>
          <a:xfrm>
            <a:off x="8284464" y="2615184"/>
            <a:ext cx="3090672" cy="2231136"/>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3645"/>
                </a:solidFill>
              </a:rPr>
              <a:t>Single database, no replication, no automated backup</a:t>
            </a:r>
            <a:endParaRPr lang="en-US" sz="1150" dirty="0"/>
          </a:p>
          <a:p>
            <a:pPr marL="342900" indent="-342900">
              <a:spcAft>
                <a:spcPts val="500"/>
              </a:spcAft>
              <a:buSzPct val="100000"/>
              <a:buChar char="•"/>
            </a:pPr>
            <a:r>
              <a:rPr lang="en-US" sz="1150" dirty="0">
                <a:solidFill>
                  <a:srgbClr val="3D3645"/>
                </a:solidFill>
              </a:rPr>
              <a:t>Photos live on the app server’s filesystem — files and rows can drift apart</a:t>
            </a:r>
            <a:endParaRPr lang="en-US" sz="1150" dirty="0"/>
          </a:p>
          <a:p>
            <a:pPr marL="342900" indent="-342900">
              <a:spcAft>
                <a:spcPts val="500"/>
              </a:spcAft>
              <a:buSzPct val="100000"/>
              <a:buChar char="•"/>
            </a:pPr>
            <a:r>
              <a:rPr lang="en-US" sz="1150" dirty="0">
                <a:solidFill>
                  <a:srgbClr val="3D3645"/>
                </a:solidFill>
              </a:rPr>
              <a:t>No sustained load test was run</a:t>
            </a:r>
            <a:endParaRPr lang="en-US" sz="1150" dirty="0"/>
          </a:p>
          <a:p>
            <a:pPr marL="342900" indent="-342900">
              <a:spcAft>
                <a:spcPts val="500"/>
              </a:spcAft>
              <a:buSzPct val="100000"/>
              <a:buChar char="•"/>
            </a:pPr>
            <a:r>
              <a:rPr lang="en-US" sz="1150" dirty="0">
                <a:solidFill>
                  <a:srgbClr val="3D3645"/>
                </a:solidFill>
              </a:rPr>
              <a:t>One SMTP account — if it is down, verification stalls</a:t>
            </a:r>
            <a:endParaRPr lang="en-US" sz="1150" dirty="0"/>
          </a:p>
        </p:txBody>
      </p:sp>
      <p:sp>
        <p:nvSpPr>
          <p:cNvPr id="13" name="Text 11"/>
          <p:cNvSpPr txBox="1"/>
          <p:nvPr/>
        </p:nvSpPr>
        <p:spPr>
          <a:xfrm>
            <a:off x="548640" y="5285232"/>
            <a:ext cx="11064240" cy="310896"/>
          </a:xfrm>
          <a:prstGeom prst="rect">
            <a:avLst/>
          </a:prstGeom>
          <a:noFill/>
          <a:ln/>
        </p:spPr>
        <p:txBody>
          <a:bodyPr wrap="square" lIns="0" tIns="0" rIns="0" bIns="0" rtlCol="0" anchor="ctr"/>
          <a:lstStyle/>
          <a:p>
            <a:pPr indent="0" marL="0">
              <a:buNone/>
            </a:pPr>
            <a:r>
              <a:rPr lang="en-US" sz="1250" i="1" dirty="0">
                <a:solidFill>
                  <a:srgbClr val="9908D2"/>
                </a:solidFill>
              </a:rPr>
              <a:t>We went looking for these. A project that claims no limitations has not been checked.</a:t>
            </a:r>
            <a:endParaRPr lang="en-US" sz="12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86384"/>
          </a:xfrm>
          <a:prstGeom prst="rect">
            <a:avLst/>
          </a:prstGeom>
          <a:noFill/>
          <a:ln/>
        </p:spPr>
        <p:txBody>
          <a:bodyPr wrap="square" lIns="0" tIns="0" rIns="0" bIns="0" rtlCol="0" anchor="ctr"/>
          <a:lstStyle/>
          <a:p>
            <a:pPr algn="l" indent="0" marL="0">
              <a:buNone/>
            </a:pPr>
            <a:r>
              <a:rPr lang="en-US" sz="3200" b="1" dirty="0">
                <a:solidFill>
                  <a:srgbClr val="1A1420"/>
                </a:solidFill>
              </a:rPr>
              <a:t>Future work</a:t>
            </a:r>
            <a:endParaRPr lang="en-US" sz="3200" dirty="0"/>
          </a:p>
        </p:txBody>
      </p:sp>
      <p:sp>
        <p:nvSpPr>
          <p:cNvPr id="3" name="Shape 1"/>
          <p:cNvSpPr/>
          <p:nvPr/>
        </p:nvSpPr>
        <p:spPr>
          <a:xfrm>
            <a:off x="548640" y="1426464"/>
            <a:ext cx="3566160" cy="3657600"/>
          </a:xfrm>
          <a:prstGeom prst="roundRect">
            <a:avLst>
              <a:gd name="adj" fmla="val 3077"/>
            </a:avLst>
          </a:prstGeom>
          <a:solidFill>
            <a:srgbClr val="FFFFFF"/>
          </a:solidFill>
          <a:ln w="15875">
            <a:solidFill>
              <a:srgbClr val="DB8FFA"/>
            </a:solidFill>
            <a:prstDash val="solid"/>
          </a:ln>
        </p:spPr>
      </p:sp>
      <p:sp>
        <p:nvSpPr>
          <p:cNvPr id="4" name="Text 2"/>
          <p:cNvSpPr txBox="1"/>
          <p:nvPr/>
        </p:nvSpPr>
        <p:spPr>
          <a:xfrm>
            <a:off x="786384" y="163677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Database</a:t>
            </a:r>
            <a:endParaRPr lang="en-US" sz="1700" dirty="0"/>
          </a:p>
        </p:txBody>
      </p:sp>
      <p:sp>
        <p:nvSpPr>
          <p:cNvPr id="5" name="Text 3"/>
          <p:cNvSpPr txBox="1"/>
          <p:nvPr/>
        </p:nvSpPr>
        <p:spPr>
          <a:xfrm>
            <a:off x="786384" y="2066544"/>
            <a:ext cx="3090672" cy="2779776"/>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3645"/>
                </a:solidFill>
              </a:rPr>
              <a:t>A narrower listing view, or a summary table refreshed on write, to remove the catalogue’s view cost</a:t>
            </a:r>
            <a:endParaRPr lang="en-US" sz="1150" dirty="0"/>
          </a:p>
          <a:p>
            <a:pPr marL="342900" indent="-342900">
              <a:spcAft>
                <a:spcPts val="500"/>
              </a:spcAft>
              <a:buSzPct val="100000"/>
              <a:buChar char="•"/>
            </a:pPr>
            <a:r>
              <a:rPr lang="en-US" sz="1150" dirty="0">
                <a:solidFill>
                  <a:srgbClr val="3D3645"/>
                </a:solidFill>
              </a:rPr>
              <a:t>Partition daycare_attendance and boarding_updates by date — both grow without bound</a:t>
            </a:r>
            <a:endParaRPr lang="en-US" sz="1150" dirty="0"/>
          </a:p>
          <a:p>
            <a:pPr marL="342900" indent="-342900">
              <a:spcAft>
                <a:spcPts val="500"/>
              </a:spcAft>
              <a:buSzPct val="100000"/>
              <a:buChar char="•"/>
            </a:pPr>
            <a:r>
              <a:rPr lang="en-US" sz="1150" dirty="0">
                <a:solidFill>
                  <a:srgbClr val="3D3645"/>
                </a:solidFill>
              </a:rPr>
              <a:t>Full-text index on pet name and description; search is a LIKE today</a:t>
            </a:r>
            <a:endParaRPr lang="en-US" sz="1150" dirty="0"/>
          </a:p>
          <a:p>
            <a:pPr marL="342900" indent="-342900">
              <a:spcAft>
                <a:spcPts val="500"/>
              </a:spcAft>
              <a:buSzPct val="100000"/>
              <a:buChar char="•"/>
            </a:pPr>
            <a:r>
              <a:rPr lang="en-US" sz="1150" dirty="0">
                <a:solidFill>
                  <a:srgbClr val="3D3645"/>
                </a:solidFill>
              </a:rPr>
              <a:t>An optimistic-locking version column — the pessimistic locks protect bookings, not concurrent edits</a:t>
            </a:r>
            <a:endParaRPr lang="en-US" sz="1150" dirty="0"/>
          </a:p>
        </p:txBody>
      </p:sp>
      <p:sp>
        <p:nvSpPr>
          <p:cNvPr id="6" name="Shape 4"/>
          <p:cNvSpPr/>
          <p:nvPr/>
        </p:nvSpPr>
        <p:spPr>
          <a:xfrm>
            <a:off x="4297680" y="1426464"/>
            <a:ext cx="3566160" cy="3657600"/>
          </a:xfrm>
          <a:prstGeom prst="roundRect">
            <a:avLst>
              <a:gd name="adj" fmla="val 3077"/>
            </a:avLst>
          </a:prstGeom>
          <a:solidFill>
            <a:srgbClr val="FFFFFF"/>
          </a:solidFill>
          <a:ln w="15875">
            <a:solidFill>
              <a:srgbClr val="DB8FFA"/>
            </a:solidFill>
            <a:prstDash val="solid"/>
          </a:ln>
        </p:spPr>
      </p:sp>
      <p:sp>
        <p:nvSpPr>
          <p:cNvPr id="7" name="Text 5"/>
          <p:cNvSpPr txBox="1"/>
          <p:nvPr/>
        </p:nvSpPr>
        <p:spPr>
          <a:xfrm>
            <a:off x="4535424" y="163677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Features</a:t>
            </a:r>
            <a:endParaRPr lang="en-US" sz="1700" dirty="0"/>
          </a:p>
        </p:txBody>
      </p:sp>
      <p:sp>
        <p:nvSpPr>
          <p:cNvPr id="8" name="Text 6"/>
          <p:cNvSpPr txBox="1"/>
          <p:nvPr/>
        </p:nvSpPr>
        <p:spPr>
          <a:xfrm>
            <a:off x="4535424" y="2066544"/>
            <a:ext cx="3090672" cy="2779776"/>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3645"/>
                </a:solidFill>
              </a:rPr>
              <a:t>Foster placements — the nearest real gap, and a natural extension of the boarding model</a:t>
            </a:r>
            <a:endParaRPr lang="en-US" sz="1150" dirty="0"/>
          </a:p>
          <a:p>
            <a:pPr marL="342900" indent="-342900">
              <a:spcAft>
                <a:spcPts val="500"/>
              </a:spcAft>
              <a:buSzPct val="100000"/>
              <a:buChar char="•"/>
            </a:pPr>
            <a:r>
              <a:rPr lang="en-US" sz="1150" dirty="0">
                <a:solidFill>
                  <a:srgbClr val="3D3645"/>
                </a:solidFill>
              </a:rPr>
              <a:t>Online payment; the slip already carries everything a payment would reference</a:t>
            </a:r>
            <a:endParaRPr lang="en-US" sz="1150" dirty="0"/>
          </a:p>
          <a:p>
            <a:pPr marL="342900" indent="-342900">
              <a:spcAft>
                <a:spcPts val="500"/>
              </a:spcAft>
              <a:buSzPct val="100000"/>
              <a:buChar char="•"/>
            </a:pPr>
            <a:r>
              <a:rPr lang="en-US" sz="1150" dirty="0">
                <a:solidFill>
                  <a:srgbClr val="3D3645"/>
                </a:solidFill>
              </a:rPr>
              <a:t>Microchip registration, so a found animal traces back to its adoption</a:t>
            </a:r>
            <a:endParaRPr lang="en-US" sz="1150" dirty="0"/>
          </a:p>
          <a:p>
            <a:pPr marL="342900" indent="-342900">
              <a:spcAft>
                <a:spcPts val="500"/>
              </a:spcAft>
              <a:buSzPct val="100000"/>
              <a:buChar char="•"/>
            </a:pPr>
            <a:r>
              <a:rPr lang="en-US" sz="1150" dirty="0">
                <a:solidFill>
                  <a:srgbClr val="3D3645"/>
                </a:solidFill>
              </a:rPr>
              <a:t>A mobile client — check-in and care logging happen away from a desk</a:t>
            </a:r>
            <a:endParaRPr lang="en-US" sz="1150" dirty="0"/>
          </a:p>
        </p:txBody>
      </p:sp>
      <p:sp>
        <p:nvSpPr>
          <p:cNvPr id="9" name="Shape 7"/>
          <p:cNvSpPr/>
          <p:nvPr/>
        </p:nvSpPr>
        <p:spPr>
          <a:xfrm>
            <a:off x="8046720" y="1426464"/>
            <a:ext cx="3566160" cy="3657600"/>
          </a:xfrm>
          <a:prstGeom prst="roundRect">
            <a:avLst>
              <a:gd name="adj" fmla="val 3077"/>
            </a:avLst>
          </a:prstGeom>
          <a:solidFill>
            <a:srgbClr val="FFFFFF"/>
          </a:solidFill>
          <a:ln w="15875">
            <a:solidFill>
              <a:srgbClr val="DB8FFA"/>
            </a:solidFill>
            <a:prstDash val="solid"/>
          </a:ln>
        </p:spPr>
      </p:sp>
      <p:sp>
        <p:nvSpPr>
          <p:cNvPr id="10" name="Text 8"/>
          <p:cNvSpPr txBox="1"/>
          <p:nvPr/>
        </p:nvSpPr>
        <p:spPr>
          <a:xfrm>
            <a:off x="8284464" y="1636776"/>
            <a:ext cx="3090672" cy="402336"/>
          </a:xfrm>
          <a:prstGeom prst="rect">
            <a:avLst/>
          </a:prstGeom>
          <a:noFill/>
          <a:ln/>
        </p:spPr>
        <p:txBody>
          <a:bodyPr wrap="square" lIns="0" tIns="0" rIns="0" bIns="0" rtlCol="0" anchor="t"/>
          <a:lstStyle/>
          <a:p>
            <a:pPr indent="0" marL="0">
              <a:buNone/>
            </a:pPr>
            <a:r>
              <a:rPr lang="en-US" sz="1700" b="1" dirty="0">
                <a:solidFill>
                  <a:srgbClr val="9908D2"/>
                </a:solidFill>
              </a:rPr>
              <a:t>Engineering</a:t>
            </a:r>
            <a:endParaRPr lang="en-US" sz="1700" dirty="0"/>
          </a:p>
        </p:txBody>
      </p:sp>
      <p:sp>
        <p:nvSpPr>
          <p:cNvPr id="11" name="Text 9"/>
          <p:cNvSpPr txBox="1"/>
          <p:nvPr/>
        </p:nvSpPr>
        <p:spPr>
          <a:xfrm>
            <a:off x="8284464" y="2066544"/>
            <a:ext cx="3090672" cy="2779776"/>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3645"/>
                </a:solidFill>
              </a:rPr>
              <a:t>Automated tests around the capacity and locking rules specifically — where a regression would be easy to introduce and hard to notice</a:t>
            </a:r>
            <a:endParaRPr lang="en-US" sz="1150" dirty="0"/>
          </a:p>
          <a:p>
            <a:pPr marL="342900" indent="-342900">
              <a:spcAft>
                <a:spcPts val="500"/>
              </a:spcAft>
              <a:buSzPct val="100000"/>
              <a:buChar char="•"/>
            </a:pPr>
            <a:r>
              <a:rPr lang="en-US" sz="1150" dirty="0">
                <a:solidFill>
                  <a:srgbClr val="3D3645"/>
                </a:solidFill>
              </a:rPr>
              <a:t>Backups with a tested restore, and a read replica so reporting cannot slow the operational path</a:t>
            </a:r>
            <a:endParaRPr lang="en-US" sz="1150" dirty="0"/>
          </a:p>
          <a:p>
            <a:pPr marL="342900" indent="-342900">
              <a:spcAft>
                <a:spcPts val="500"/>
              </a:spcAft>
              <a:buSzPct val="100000"/>
              <a:buChar char="•"/>
            </a:pPr>
            <a:r>
              <a:rPr lang="en-US" sz="1150" dirty="0">
                <a:solidFill>
                  <a:srgbClr val="3D3645"/>
                </a:solidFill>
              </a:rPr>
              <a:t>Object storage for photographs, with the database as the only index</a:t>
            </a:r>
            <a:endParaRPr lang="en-US" sz="1150" dirty="0"/>
          </a:p>
        </p:txBody>
      </p:sp>
      <p:sp>
        <p:nvSpPr>
          <p:cNvPr id="25" name="Slide Number Placeholder 0"/>
          <p:cNvSpPr>
            <a:spLocks noGrp="1"/>
          </p:cNvSpPr>
          <p:nvPr>
            <p:ph type="sldNum" sz="quarter" idx="4294967295"/>
          </p:nvPr>
        </p:nvSpPr>
        <p:spPr>
          <a:xfrm>
            <a:off x="11155680" y="643737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5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371600"/>
            <a:ext cx="11064240" cy="1554480"/>
          </a:xfrm>
          <a:prstGeom prst="rect">
            <a:avLst/>
          </a:prstGeom>
          <a:noFill/>
          <a:ln/>
        </p:spPr>
        <p:txBody>
          <a:bodyPr wrap="square" lIns="0" tIns="0" rIns="0" bIns="0" rtlCol="0" anchor="ctr"/>
          <a:lstStyle/>
          <a:p>
            <a:pPr indent="0" marL="0">
              <a:lnSpc>
                <a:spcPct val="112000"/>
              </a:lnSpc>
              <a:buNone/>
            </a:pPr>
            <a:r>
              <a:rPr lang="en-US" sz="4000" b="1" dirty="0">
                <a:solidFill>
                  <a:srgbClr val="1A1420"/>
                </a:solidFill>
              </a:rPr>
              <a:t>How much of a system’s correctness</a:t>
            </a:r>
            <a:endParaRPr lang="en-US" sz="4000" dirty="0"/>
          </a:p>
          <a:p>
            <a:pPr indent="0" marL="0">
              <a:lnSpc>
                <a:spcPct val="112000"/>
              </a:lnSpc>
              <a:buNone/>
            </a:pPr>
            <a:r>
              <a:rPr lang="en-US" sz="4000" b="1" dirty="0">
                <a:solidFill>
                  <a:srgbClr val="1A1420"/>
                </a:solidFill>
              </a:rPr>
              <a:t>can live in the database?</a:t>
            </a:r>
            <a:endParaRPr lang="en-US" sz="4000" dirty="0"/>
          </a:p>
        </p:txBody>
      </p:sp>
      <p:sp>
        <p:nvSpPr>
          <p:cNvPr id="3" name="Text 1"/>
          <p:cNvSpPr txBox="1"/>
          <p:nvPr/>
        </p:nvSpPr>
        <p:spPr>
          <a:xfrm>
            <a:off x="548640" y="3127248"/>
            <a:ext cx="10607040" cy="1097280"/>
          </a:xfrm>
          <a:prstGeom prst="rect">
            <a:avLst/>
          </a:prstGeom>
          <a:noFill/>
          <a:ln/>
        </p:spPr>
        <p:txBody>
          <a:bodyPr wrap="square" lIns="0" tIns="0" rIns="0" bIns="0" rtlCol="0" anchor="ctr"/>
          <a:lstStyle/>
          <a:p>
            <a:pPr indent="0" marL="0">
              <a:lnSpc>
                <a:spcPct val="120000"/>
              </a:lnSpc>
              <a:buNone/>
            </a:pPr>
            <a:r>
              <a:rPr lang="en-US" sz="1800" dirty="0">
                <a:solidFill>
                  <a:srgbClr val="1A1420"/>
                </a:solidFill>
              </a:rPr>
              <a:t>Most of it — but not all, and the boundary is sharp. 39 CHECKs and 69 foreign keys carry every rule that fits inside one row or one relationship. The rules that span rows cannot be stated declaratively in MySQL at all, and became transactions holding locks.</a:t>
            </a:r>
            <a:endParaRPr lang="en-US" sz="1800" dirty="0"/>
          </a:p>
        </p:txBody>
      </p:sp>
      <p:sp>
        <p:nvSpPr>
          <p:cNvPr id="4" name="Text 2"/>
          <p:cNvSpPr txBox="1"/>
          <p:nvPr/>
        </p:nvSpPr>
        <p:spPr>
          <a:xfrm>
            <a:off x="548640" y="4315968"/>
            <a:ext cx="10607040" cy="548640"/>
          </a:xfrm>
          <a:prstGeom prst="rect">
            <a:avLst/>
          </a:prstGeom>
          <a:noFill/>
          <a:ln/>
        </p:spPr>
        <p:txBody>
          <a:bodyPr wrap="square" lIns="0" tIns="0" rIns="0" bIns="0" rtlCol="0" anchor="ctr"/>
          <a:lstStyle/>
          <a:p>
            <a:pPr indent="0" marL="0">
              <a:lnSpc>
                <a:spcPct val="115000"/>
              </a:lnSpc>
              <a:buNone/>
            </a:pPr>
            <a:r>
              <a:rPr lang="en-US" sz="1900" b="1" dirty="0">
                <a:solidFill>
                  <a:srgbClr val="9908D2"/>
                </a:solidFill>
              </a:rPr>
              <a:t>Learning to tell those two categories apart was the most useful thing this project taught us.</a:t>
            </a:r>
            <a:endParaRPr lang="en-US" sz="1900" dirty="0"/>
          </a:p>
        </p:txBody>
      </p:sp>
      <p:sp>
        <p:nvSpPr>
          <p:cNvPr id="5" name="Shape 3"/>
          <p:cNvSpPr/>
          <p:nvPr/>
        </p:nvSpPr>
        <p:spPr>
          <a:xfrm>
            <a:off x="548640" y="5230368"/>
            <a:ext cx="11064240" cy="0"/>
          </a:xfrm>
          <a:prstGeom prst="line">
            <a:avLst/>
          </a:prstGeom>
          <a:noFill/>
          <a:ln w="12700">
            <a:solidFill>
              <a:srgbClr val="DB8FFA"/>
            </a:solidFill>
            <a:prstDash val="solid"/>
          </a:ln>
        </p:spPr>
      </p:sp>
      <p:sp>
        <p:nvSpPr>
          <p:cNvPr id="6" name="Text 4"/>
          <p:cNvSpPr txBox="1"/>
          <p:nvPr/>
        </p:nvSpPr>
        <p:spPr>
          <a:xfrm>
            <a:off x="548640" y="5440680"/>
            <a:ext cx="7498080" cy="365760"/>
          </a:xfrm>
          <a:prstGeom prst="rect">
            <a:avLst/>
          </a:prstGeom>
          <a:noFill/>
          <a:ln/>
        </p:spPr>
        <p:txBody>
          <a:bodyPr wrap="square" lIns="0" tIns="0" rIns="0" bIns="0" rtlCol="0" anchor="ctr"/>
          <a:lstStyle/>
          <a:p>
            <a:pPr indent="0" marL="0">
              <a:buNone/>
            </a:pPr>
            <a:r>
              <a:rPr lang="en-US" sz="1200" dirty="0">
                <a:solidFill>
                  <a:srgbClr val="6E6578"/>
                </a:solidFill>
              </a:rPr>
              <a:t>Every number in this deck was read from the running database or counted from the source — none estimated.</a:t>
            </a:r>
            <a:endParaRPr lang="en-US" sz="1200" dirty="0"/>
          </a:p>
        </p:txBody>
      </p:sp>
      <p:sp>
        <p:nvSpPr>
          <p:cNvPr id="7" name="Text 5"/>
          <p:cNvSpPr txBox="1"/>
          <p:nvPr/>
        </p:nvSpPr>
        <p:spPr>
          <a:xfrm>
            <a:off x="8229600" y="5394960"/>
            <a:ext cx="3383280" cy="457200"/>
          </a:xfrm>
          <a:prstGeom prst="rect">
            <a:avLst/>
          </a:prstGeom>
          <a:noFill/>
          <a:ln/>
        </p:spPr>
        <p:txBody>
          <a:bodyPr wrap="square" lIns="0" tIns="0" rIns="0" bIns="0" rtlCol="0" anchor="ctr"/>
          <a:lstStyle/>
          <a:p>
            <a:pPr algn="r" indent="0" marL="0">
              <a:buNone/>
            </a:pPr>
            <a:r>
              <a:rPr lang="en-US" sz="2200" b="1" dirty="0">
                <a:solidFill>
                  <a:srgbClr val="B20BF4"/>
                </a:solidFill>
              </a:rPr>
              <a:t>Thank you — questions?</a:t>
            </a:r>
            <a:endParaRPr lang="en-US" sz="2200" dirty="0"/>
          </a:p>
        </p:txBody>
      </p:sp>
    </p:spTree>
  </p:cSld>
  <p:clrMapOvr>
    <a:masterClrMapping/>
  </p:clrMapOvr>
</p:sld>
</file>

<file path=ppt/theme/theme1.xml><?xml version="1.0" encoding="utf-8"?>
<a:theme xmlns:a="http://schemas.openxmlformats.org/drawingml/2006/main" name="PawHome">
  <a:themeElements>
    <a:clrScheme name="PawHome">
      <a:dk1>
        <a:srgbClr val="1A1420"/>
      </a:dk1>
      <a:lt1>
        <a:srgbClr val="FFFFFF"/>
      </a:lt1>
      <a:dk2>
        <a:srgbClr val="3D3645"/>
      </a:dk2>
      <a:lt2>
        <a:srgbClr val="FDF7FE"/>
      </a:lt2>
      <a:accent1>
        <a:srgbClr val="B20BF4"/>
      </a:accent1>
      <a:accent2>
        <a:srgbClr val="9908D2"/>
      </a:accent2>
      <a:accent3>
        <a:srgbClr val="CE63F8"/>
      </a:accent3>
      <a:accent4>
        <a:srgbClr val="F4E3F8"/>
      </a:accent4>
      <a:accent5>
        <a:srgbClr val="15803D"/>
      </a:accent5>
      <a:accent6>
        <a:srgbClr val="C41E3F"/>
      </a:accent6>
      <a:hlink>
        <a:srgbClr val="9908D2"/>
      </a:hlink>
      <a:folHlink>
        <a:srgbClr val="8A7F93"/>
      </a:folHlink>
    </a:clrScheme>
    <a:fontScheme name="PawHom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United International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PawHome — Project Presentation</dc:title>
  <dc:subject>CSE 3522 Database Management Systems Laboratory</dc:subject>
  <dc:creator>Mir Mukararam Hossain, Nowshin Islam Tonni</dc:creator>
  <cp:lastModifiedBy>Mir Mukararam Hossain, Nowshin Islam Tonni</cp:lastModifiedBy>
  <cp:revision>1</cp:revision>
  <dcterms:created xsi:type="dcterms:W3CDTF">2026-10-02T12:23:47Z</dcterms:created>
  <dcterms:modified xsi:type="dcterms:W3CDTF">2026-10-02T12:23:47Z</dcterms:modified>
</cp:coreProperties>
</file>