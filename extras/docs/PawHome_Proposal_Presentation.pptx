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project name and one line about what it is, then go straight to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pitch. Stand still, no clicking, about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names and roll numbers. Stress that the split is vertical, not "one does the database" — both of us own tables. Raise the team-size point here rather than letting it be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application, database-driven, three roles. Ten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bold line, add one sentence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heading, give one example. Do not read the small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deliverables. Point, do not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three increments. The last line is why we chose Agile.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see different systems, not one system with buttons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column matters more. Be ready to defend leaving payment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versions out. Say frontend, backend, database, security — then raise the PHP point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three draw.io share links into the right-hand panel before presenting. Open the full ERD from here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"is it fully 3NF" — yes, with five documented exceptions. Name one: the applicant address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eight. Point at joins, the transaction and the index — those are the three a teacher usually probes.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red items: team size and PHP. Ask for both in the same breath — do not wait to be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and mitigation in one breath each. Do not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and let them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371600"/>
            <a:ext cx="6309360" cy="6309360"/>
          </a:xfrm>
          <a:prstGeom prst="ellipse">
            <a:avLst/>
          </a:prstGeom>
          <a:solidFill>
            <a:srgbClr val="CE63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91440"/>
            <a:ext cx="3749040" cy="3749040"/>
          </a:xfrm>
          <a:prstGeom prst="ellipse">
            <a:avLst/>
          </a:prstGeom>
          <a:solidFill>
            <a:srgbClr val="B20BF4">
              <a:alpha val="3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B8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3522  ·  DATABASE MANAGEMENT SYSTEMS LABORATORY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PawHome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8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pet adoption and boarding management system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·  United International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120640" cy="5120640"/>
          </a:xfrm>
          <a:prstGeom prst="ellipse">
            <a:avLst/>
          </a:prstGeom>
          <a:solidFill>
            <a:srgbClr val="B20BF4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E6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SECONDS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Animal shelters still run on paper. Adopters still choose by photo, and too many pets come back.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B8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PawHome puts both sides on one platform. A shelter manages its animals, its boarding suites and its health records in one place. An adopter is matched to a pet by a short lifestyle quiz — not by looks — then applies, books boarding and gets vaccination reminders, without leaving the site.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92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E63F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system  ·  three roles  ·  from first browse to going home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journey each, built front to back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35728" cy="3840480"/>
          </a:xfrm>
          <a:prstGeom prst="roundRect">
            <a:avLst>
              <a:gd name="adj" fmla="val 2143"/>
            </a:avLst>
          </a:prstGeom>
          <a:solidFill>
            <a:srgbClr val="F4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75104"/>
            <a:ext cx="713232" cy="713232"/>
          </a:xfrm>
          <a:prstGeom prst="ellipse">
            <a:avLst/>
          </a:prstGeom>
          <a:solidFill>
            <a:srgbClr val="B20B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97510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52928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Member One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23697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602736"/>
            <a:ext cx="422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HOME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950208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catalogue, adopter and staff screens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login and access control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adoptions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— users, pets, applications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70168" y="1737360"/>
            <a:ext cx="5135728" cy="3840480"/>
          </a:xfrm>
          <a:prstGeom prst="roundRect">
            <a:avLst>
              <a:gd name="adj" fmla="val 2143"/>
            </a:avLst>
          </a:prstGeom>
          <a:solidFill>
            <a:srgbClr val="F4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827368" y="1975104"/>
            <a:ext cx="713232" cy="713232"/>
          </a:xfrm>
          <a:prstGeom prst="ellipse">
            <a:avLst/>
          </a:prstGeom>
          <a:solidFill>
            <a:srgbClr val="B20B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27368" y="197510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27368" y="2852928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Member Two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6827368" y="323697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27368" y="3602736"/>
            <a:ext cx="422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AFTER A PET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27368" y="3950208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boarding and daily care screens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scheduling and reminders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notifications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tables — boarding, care, health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76072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builds the screens, the API and the tables for our own journey — so both of us work across the frontend, the backend and the database.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07161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expects four to five members. We are two, and that needs your approval.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multi-role web application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3818" cy="2697480"/>
          </a:xfrm>
          <a:prstGeom prst="roundRect">
            <a:avLst>
              <a:gd name="adj" fmla="val 3051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212848"/>
            <a:ext cx="3423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10128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758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Adopter, shelter staff, admin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3938" y="1874520"/>
            <a:ext cx="3423818" cy="2697480"/>
          </a:xfrm>
          <a:prstGeom prst="roundRect">
            <a:avLst>
              <a:gd name="adj" fmla="val 3051"/>
            </a:avLst>
          </a:prstGeom>
          <a:solidFill>
            <a:srgbClr val="F4E3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3938" y="2212848"/>
            <a:ext cx="3423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4383938" y="3310128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6758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relational schema, MySQL 8.4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2077" y="1874520"/>
            <a:ext cx="3423818" cy="2697480"/>
          </a:xfrm>
          <a:prstGeom prst="roundRect">
            <a:avLst>
              <a:gd name="adj" fmla="val 3051"/>
            </a:avLst>
          </a:prstGeom>
          <a:solidFill>
            <a:srgbClr val="F4E3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82077" y="2212848"/>
            <a:ext cx="3423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53</a:t>
            </a:r>
            <a:endParaRPr lang="en-US" sz="6200" dirty="0"/>
          </a:p>
        </p:txBody>
      </p:sp>
      <p:sp>
        <p:nvSpPr>
          <p:cNvPr id="14" name="Text 12"/>
          <p:cNvSpPr txBox="1"/>
          <p:nvPr/>
        </p:nvSpPr>
        <p:spPr>
          <a:xfrm>
            <a:off x="8082077" y="3310128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3675888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enforced by the database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2064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Runs in any browser. No install for the shelter, no app store for the adopter.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the system has to achieve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2353666"/>
            <a:ext cx="321869" cy="3218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167128"/>
            <a:ext cx="408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 shelter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4963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Pets, staff, boarding and records, instead of paper and spreadsheets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15888" y="214884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713" y="2353666"/>
            <a:ext cx="321869" cy="3218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21728" y="2167128"/>
            <a:ext cx="408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lifestyle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421728" y="24963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quiz scores traits, so the fit is not decided by a photo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85800" y="420624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4411066"/>
            <a:ext cx="321869" cy="3218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224528"/>
            <a:ext cx="408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health on record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5537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 logged, due dates emailed before they pass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15888" y="420624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4411066"/>
            <a:ext cx="321869" cy="3218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21728" y="4224528"/>
            <a:ext cx="408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database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421728" y="45537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refuse bad data even when the code forgets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broken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81448" cy="1828800"/>
          </a:xfrm>
          <a:prstGeom prst="roundRect">
            <a:avLst>
              <a:gd name="adj" fmla="val 4500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21992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Records live on paper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34056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files and spreadsheets. Nothing is searchable, nothing is backed up.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5181448" cy="1828800"/>
          </a:xfrm>
          <a:prstGeom prst="roundRect">
            <a:avLst>
              <a:gd name="adj" fmla="val 4500"/>
            </a:avLst>
          </a:prstGeom>
          <a:solidFill>
            <a:srgbClr val="F4E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35928" y="2221992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Adopters choose by photo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735928" y="2734056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of energy or space is found out at home — and the pet is returned.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5181448" cy="1828800"/>
          </a:xfrm>
          <a:prstGeom prst="roundRect">
            <a:avLst>
              <a:gd name="adj" fmla="val 4500"/>
            </a:avLst>
          </a:prstGeom>
          <a:solidFill>
            <a:srgbClr val="F4E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325112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Boarding runs by phone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837176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care was actually given, and no way for an owner to check 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4448" y="3977640"/>
            <a:ext cx="5181448" cy="1828800"/>
          </a:xfrm>
          <a:prstGeom prst="roundRect">
            <a:avLst>
              <a:gd name="adj" fmla="val 4500"/>
            </a:avLst>
          </a:prstGeom>
          <a:solidFill>
            <a:srgbClr val="F4E3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35928" y="4325112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Vaccinations get missed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35928" y="4837176"/>
            <a:ext cx="4358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due date on a paper card is a due date nobody sees.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will hand 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374" y="2377806"/>
            <a:ext cx="273588" cy="2735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33272" y="299008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catalogue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330098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filter, no account needed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3938" y="187452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731410" y="220370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512" y="2377806"/>
            <a:ext cx="273588" cy="2735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1410" y="299008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quiz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731410" y="330098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pet traits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82077" y="187452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29549" y="220370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651" y="2377806"/>
            <a:ext cx="273588" cy="2735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29549" y="299008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portal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29549" y="330098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favourites, boarding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85800" y="402336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33272" y="435254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374" y="4526646"/>
            <a:ext cx="273588" cy="2735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33272" y="513892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1033272" y="544982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Pets, reviews, daily care logs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83938" y="402336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731410" y="435254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512" y="4526646"/>
            <a:ext cx="273588" cy="2735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31410" y="513892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4731410" y="544982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shelters, reports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082077" y="4023360"/>
            <a:ext cx="3423818" cy="1874520"/>
          </a:xfrm>
          <a:prstGeom prst="roundRect">
            <a:avLst>
              <a:gd name="adj" fmla="val 4390"/>
            </a:avLst>
          </a:prstGeom>
          <a:solidFill>
            <a:srgbClr val="F4E3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29549" y="4352544"/>
            <a:ext cx="621792" cy="621792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651" y="4526646"/>
            <a:ext cx="273588" cy="2735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29549" y="5138928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8429549" y="5449824"/>
            <a:ext cx="272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tables, migrations, seed data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Agile, in three increments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3301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Interface first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30752"/>
            <a:ext cx="33018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built and clickable, so the shape of the system is agreed before any data model is locked.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42562" y="2148840"/>
            <a:ext cx="347472" cy="365760"/>
          </a:xfrm>
          <a:prstGeom prst="chevron">
            <a:avLst/>
          </a:prstGeom>
          <a:solidFill>
            <a:srgbClr val="DB8F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4898" y="196596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4898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44898" y="2926080"/>
            <a:ext cx="3301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44898" y="320040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Database and access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444898" y="3730752"/>
            <a:ext cx="33018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through Flyway migrations, then roles, login, email verification and row-level scoping.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01661" y="2148840"/>
            <a:ext cx="347472" cy="365760"/>
          </a:xfrm>
          <a:prstGeom prst="chevron">
            <a:avLst/>
          </a:prstGeom>
          <a:solidFill>
            <a:srgbClr val="DB8F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03997" y="1965960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03997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03997" y="2926080"/>
            <a:ext cx="3301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03997" y="3200400"/>
            <a:ext cx="3301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Features on top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03997" y="3730752"/>
            <a:ext cx="33018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boarding, care logging and reporting, split between the two of us.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321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Agile, because the schema changed as soon as real screens existed — and it was cheaper to find that out in week two than in week ten.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roles, three portals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F4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76272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106" y="2381098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272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Adopter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7600"/>
            <a:ext cx="26465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filter pets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matching quiz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adopt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boarding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83938" y="1810512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F4E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795418" y="2176272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244" y="2381098"/>
            <a:ext cx="321869" cy="3218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5418" y="31272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Shelter staff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5418" y="3657600"/>
            <a:ext cx="26465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update pets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applications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care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vaccinations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82077" y="1810512"/>
            <a:ext cx="3423818" cy="4069080"/>
          </a:xfrm>
          <a:prstGeom prst="roundRect">
            <a:avLst>
              <a:gd name="adj" fmla="val 2404"/>
            </a:avLst>
          </a:prstGeom>
          <a:solidFill>
            <a:srgbClr val="F4E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93557" y="2176272"/>
            <a:ext cx="731520" cy="73152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382" y="2381098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93557" y="31272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Admin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93557" y="3657600"/>
            <a:ext cx="26465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staff accounts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shelters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reports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audit trail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in, and what is deliberately out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5181448" cy="3931920"/>
          </a:xfrm>
          <a:prstGeom prst="roundRect">
            <a:avLst>
              <a:gd name="adj" fmla="val 2093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139696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15184"/>
            <a:ext cx="4376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end to end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with suites and daily care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quiz and matching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records and reminders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email verification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810512"/>
            <a:ext cx="5181448" cy="3931920"/>
          </a:xfrm>
          <a:prstGeom prst="roundRect">
            <a:avLst>
              <a:gd name="adj" fmla="val 2093"/>
            </a:avLst>
          </a:prstGeom>
          <a:solidFill>
            <a:srgbClr val="ECE9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35928" y="2139696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35928" y="2615184"/>
            <a:ext cx="43767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or delivery of animals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mobile app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diagnosis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Fees are recorded, not collected — payment is out of scope on purpose.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it is built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20095" cy="896112"/>
          </a:xfrm>
          <a:prstGeom prst="roundRect">
            <a:avLst>
              <a:gd name="adj" fmla="val 9184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2139696"/>
            <a:ext cx="8076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Vite  ·  Tailwind CSS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898648"/>
            <a:ext cx="10820095" cy="896112"/>
          </a:xfrm>
          <a:prstGeom prst="roundRect">
            <a:avLst>
              <a:gd name="adj" fmla="val 9184"/>
            </a:avLst>
          </a:prstGeom>
          <a:solidFill>
            <a:srgbClr val="F4E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163824"/>
            <a:ext cx="8076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  ·  Java 17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922776"/>
            <a:ext cx="10820095" cy="896112"/>
          </a:xfrm>
          <a:prstGeom prst="roundRect">
            <a:avLst>
              <a:gd name="adj" fmla="val 9184"/>
            </a:avLst>
          </a:prstGeom>
          <a:solidFill>
            <a:srgbClr val="F4E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187952"/>
            <a:ext cx="8076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 in Docker  ·  Flyway migrations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946904"/>
            <a:ext cx="10820095" cy="896112"/>
          </a:xfrm>
          <a:prstGeom prst="roundRect">
            <a:avLst>
              <a:gd name="adj" fmla="val 9184"/>
            </a:avLst>
          </a:prstGeom>
          <a:solidFill>
            <a:srgbClr val="F4E3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276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5212080"/>
            <a:ext cx="8076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BCrypt  ·  role-based access control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8932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asks for PHP. We use Java with Spring Boot, and are asking for approval — the SQL itself is unchanged.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schema, drawn and documented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148840" cy="1600200"/>
          </a:xfrm>
          <a:prstGeom prst="roundRect">
            <a:avLst>
              <a:gd name="adj" fmla="val 5143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751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783080"/>
            <a:ext cx="2148840" cy="1600200"/>
          </a:xfrm>
          <a:prstGeom prst="roundRect">
            <a:avLst>
              <a:gd name="adj" fmla="val 5143"/>
            </a:avLst>
          </a:prstGeom>
          <a:solidFill>
            <a:srgbClr val="F4E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9751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53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1783080"/>
            <a:ext cx="2148840" cy="1600200"/>
          </a:xfrm>
          <a:prstGeom prst="roundRect">
            <a:avLst>
              <a:gd name="adj" fmla="val 5143"/>
            </a:avLst>
          </a:prstGeom>
          <a:solidFill>
            <a:srgbClr val="F4E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2120" y="19751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20BF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3NF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761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 exceptions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3856939"/>
            <a:ext cx="241402" cy="2414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08760" y="36758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surrogate primary key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95935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AUTO_INCREMENT, so a business value can change without breaking references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4636008"/>
            <a:ext cx="548640" cy="54864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" y="4789627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46085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junction tables resolve many-to-many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508760" y="48920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pet_traits, option_traits and favorites — the only composite keys in the schema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85800" y="5568696"/>
            <a:ext cx="548640" cy="54864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5722315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554126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only through migrations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508760" y="582472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versions every change, so both laptops run an identical database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909560" y="1783080"/>
            <a:ext cx="3596335" cy="4709160"/>
          </a:xfrm>
          <a:prstGeom prst="roundRect">
            <a:avLst>
              <a:gd name="adj" fmla="val 2288"/>
            </a:avLst>
          </a:prstGeom>
          <a:solidFill>
            <a:srgbClr val="F4E3F8"/>
          </a:solidFill>
          <a:ln/>
        </p:spPr>
      </p:sp>
      <p:sp>
        <p:nvSpPr>
          <p:cNvPr id="26" name="Shape 21"/>
          <p:cNvSpPr/>
          <p:nvPr/>
        </p:nvSpPr>
        <p:spPr>
          <a:xfrm>
            <a:off x="8293608" y="2103120"/>
            <a:ext cx="548640" cy="548640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227" y="2256739"/>
            <a:ext cx="241402" cy="24140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93608" y="2816352"/>
            <a:ext cx="2828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LINKS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293608" y="3200400"/>
            <a:ext cx="2828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ERD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293608" y="3474720"/>
            <a:ext cx="2828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draw.io link here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293608" y="3822192"/>
            <a:ext cx="2828239" cy="0"/>
          </a:xfrm>
          <a:prstGeom prst="line">
            <a:avLst/>
          </a:prstGeom>
          <a:noFill/>
          <a:ln w="12700">
            <a:solidFill>
              <a:srgbClr val="DB8FF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293608" y="4041648"/>
            <a:ext cx="2828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diagrams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8293608" y="4315968"/>
            <a:ext cx="2828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draw.io link here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293608" y="4663440"/>
            <a:ext cx="2828239" cy="0"/>
          </a:xfrm>
          <a:prstGeom prst="line">
            <a:avLst/>
          </a:prstGeom>
          <a:noFill/>
          <a:ln w="12700">
            <a:solidFill>
              <a:srgbClr val="DB8FF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293608" y="4882896"/>
            <a:ext cx="2828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page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8293608" y="5157216"/>
            <a:ext cx="2828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draw.io link here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8293608" y="5504688"/>
            <a:ext cx="2828239" cy="0"/>
          </a:xfrm>
          <a:prstGeom prst="line">
            <a:avLst/>
          </a:prstGeom>
          <a:noFill/>
          <a:ln w="12700">
            <a:solidFill>
              <a:srgbClr val="DB8FF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293608" y="5870448"/>
            <a:ext cx="2828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docs/pawhome-erd.drawio  ·  8 pages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NORMALISATION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the database refuses to store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81448" cy="4023360"/>
          </a:xfrm>
          <a:prstGeom prst="roundRect">
            <a:avLst>
              <a:gd name="adj" fmla="val 2045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084832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NOT CONVENTIONS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42032"/>
            <a:ext cx="43584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and typed columns — no free-text dates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 email, shelter name, trait slug, token hash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ties shelter_id to STAFF only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for role, status and approval state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rules chosen per relationship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181448" cy="4023360"/>
          </a:xfrm>
          <a:prstGeom prst="roundRect">
            <a:avLst>
              <a:gd name="adj" fmla="val 2045"/>
            </a:avLst>
          </a:prstGeom>
          <a:solidFill>
            <a:srgbClr val="F4E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35928" y="2084832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35928" y="2542032"/>
            <a:ext cx="43584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— no lists in a column; traits are rows, not 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— junction tables have no non-key columns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— a fact is stored in exactly one place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exceptions, each documented and argued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35928" y="4434840"/>
            <a:ext cx="435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exceptions are snapshots and counters: the applicant’s address at the time of applying, a past quiz score, a view count, and two generated flag columns standing in for a partial unique index.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THE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each required technique lives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865376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57984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catalogue, INSERT an application, UPDATE a pet’s status, DELETE a favourite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737360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44488" y="1865376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157984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AVG adoptions per shelter, GROUP BY shelter, HAVING COUNT(*) &gt;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980944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273552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pets to shelters; LEFT JOIN pets to pet_photos so pets with no photo survive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4448" y="2852928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44488" y="2980944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3273552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EXISTS — pets with no pending application, used by the staff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968496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09651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38912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v_pet_listing and v_adopter_traits, read by the catalogue and the quiz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4448" y="3968496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4488" y="4096512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438912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an application: insert the adoption, update the pet, decline the rest — all or nothing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084064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F4E3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21208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50468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pets(shelter_id, status) — the exact pair the catalogue filters 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24448" y="5084064"/>
            <a:ext cx="5181448" cy="960120"/>
          </a:xfrm>
          <a:prstGeom prst="roundRect">
            <a:avLst>
              <a:gd name="adj" fmla="val 8571"/>
            </a:avLst>
          </a:prstGeom>
          <a:solidFill>
            <a:srgbClr val="ECE9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44488" y="521208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44488" y="5504688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under db/migration; queries in the repository layer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stand against all sixteen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55648"/>
            <a:ext cx="173736" cy="173736"/>
          </a:xfrm>
          <a:prstGeom prst="ellipse">
            <a:avLst/>
          </a:prstGeom>
          <a:solidFill>
            <a:srgbClr val="D4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6696" y="1691640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4–5 members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97400" y="16916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4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231136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167128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used as the database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706624"/>
            <a:ext cx="173736" cy="173736"/>
          </a:xfrm>
          <a:prstGeom prst="ellipse">
            <a:avLst/>
          </a:prstGeom>
          <a:solidFill>
            <a:srgbClr val="D42A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42616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for connectivity, or approval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97400" y="264261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D4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Java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82112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6696" y="3118104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has a database contribution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6696" y="3593592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complete and clearly labelled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133088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4069080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and constraints in the schema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608576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4544568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3NF, exceptions justified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084064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5020056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demonstrated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70168" y="1755648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81064" y="1691640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aggregates with GROUP BY and HAVING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70168" y="2231136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81064" y="2167128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JOIN types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70168" y="2706624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81064" y="2642616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or nested subquery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70168" y="3182112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81064" y="3118104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VIEW used by the application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481767" y="311810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views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70168" y="3657600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81064" y="3593592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/ COMMIT / ROLLBACK transaction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70168" y="4133088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81064" y="4069080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manually created index, justified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70168" y="4608576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81064" y="4544568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demonstrated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70168" y="5084064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81064" y="5020056"/>
            <a:ext cx="376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members in both presentations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742432"/>
            <a:ext cx="173736" cy="17373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01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057400" y="5742432"/>
            <a:ext cx="173736" cy="173736"/>
          </a:xfrm>
          <a:prstGeom prst="ellipse">
            <a:avLst/>
          </a:prstGeom>
          <a:solidFill>
            <a:srgbClr val="8A7F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3317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429000" y="5742432"/>
            <a:ext cx="173736" cy="173736"/>
          </a:xfrm>
          <a:prstGeom prst="ellipse">
            <a:avLst/>
          </a:prstGeom>
          <a:solidFill>
            <a:srgbClr val="D42A4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70332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teacher’s approval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20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DEPENDENCIES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4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could go wrong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694944" cy="694944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2114824"/>
            <a:ext cx="305775" cy="3057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55064" y="1938528"/>
            <a:ext cx="9850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two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55064" y="2267712"/>
            <a:ext cx="98508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expects four to five. Two people carry every feature area, so an absence stops that area outright.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3090672"/>
            <a:ext cx="694944" cy="694944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84" y="3285256"/>
            <a:ext cx="305775" cy="3057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55064" y="3108960"/>
            <a:ext cx="9850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instead of PHP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55064" y="3438144"/>
            <a:ext cx="98508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 JDBC through Spring Boot. Approval is needed, or the data layer has to be rewritten.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85800" y="4261104"/>
            <a:ext cx="694944" cy="694944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84" y="4455688"/>
            <a:ext cx="305775" cy="30577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55064" y="4279392"/>
            <a:ext cx="9850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is external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655064" y="4608576"/>
            <a:ext cx="98508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reminders depend on an outside mail provider. If it is down, sign-ups stall.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85800" y="5431536"/>
            <a:ext cx="694944" cy="694944"/>
          </a:xfrm>
          <a:prstGeom prst="ellipse">
            <a:avLst/>
          </a:prstGeom>
          <a:solidFill>
            <a:srgbClr val="B20BF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84" y="5626120"/>
            <a:ext cx="305775" cy="30577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55064" y="5449824"/>
            <a:ext cx="9850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655064" y="5779008"/>
            <a:ext cx="98508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must go through a migration. One manual edit and the two laptops disagree.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371600"/>
            <a:ext cx="5120640" cy="5120640"/>
          </a:xfrm>
          <a:prstGeom prst="ellipse">
            <a:avLst/>
          </a:prstGeom>
          <a:solidFill>
            <a:srgbClr val="CE63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2468880"/>
            <a:ext cx="2926080" cy="2926080"/>
          </a:xfrm>
          <a:prstGeom prst="ellipse">
            <a:avLst/>
          </a:prstGeom>
          <a:solidFill>
            <a:srgbClr val="B20BF4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240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PawHome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B8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from first browse to going home.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E6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PawHome - Project Proposal</dc:title>
  <dc:subject>PptxGenJS Presentation</dc:subject>
  <dc:creator>PawHome team</dc:creator>
  <cp:lastModifiedBy>PawHome team</cp:lastModifiedBy>
  <cp:revision>1</cp:revision>
  <dcterms:created xsi:type="dcterms:W3CDTF">2026-09-03T16:25:13Z</dcterms:created>
  <dcterms:modified xsi:type="dcterms:W3CDTF">2026-09-03T16:25:13Z</dcterms:modified>
</cp:coreProperties>
</file>